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7BB673-DB6C-5CAA-E7BF-3DFE207DCCA0}" name="Brest Evers, Ariel" initials="AB" userId="S::ariel.brest.evers@afs.com::8e13487a-8e8e-4259-a30a-3c0e8ab876b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C06CFF-B847-4B4A-BE97-5AB717F9D872}" v="178" dt="2025-01-27T14:13:38.7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1834"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333544-31AA-433B-8BBD-383BBC861A74}" type="datetimeFigureOut">
              <a:rPr lang="en-US" smtClean="0"/>
              <a:t>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09048F-7836-4759-A960-34272D834A9E}" type="slidenum">
              <a:rPr lang="en-US" smtClean="0"/>
              <a:t>‹#›</a:t>
            </a:fld>
            <a:endParaRPr lang="en-US"/>
          </a:p>
        </p:txBody>
      </p:sp>
    </p:spTree>
    <p:extLst>
      <p:ext uri="{BB962C8B-B14F-4D97-AF65-F5344CB8AC3E}">
        <p14:creationId xmlns:p14="http://schemas.microsoft.com/office/powerpoint/2010/main" val="455873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209048F-7836-4759-A960-34272D834A9E}" type="slidenum">
              <a:rPr lang="en-US" smtClean="0"/>
              <a:t>1</a:t>
            </a:fld>
            <a:endParaRPr lang="en-US"/>
          </a:p>
        </p:txBody>
      </p:sp>
    </p:spTree>
    <p:extLst>
      <p:ext uri="{BB962C8B-B14F-4D97-AF65-F5344CB8AC3E}">
        <p14:creationId xmlns:p14="http://schemas.microsoft.com/office/powerpoint/2010/main" val="1663562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EB78E-7352-C504-95E6-967EC449F8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E3EC43-3045-0BDC-CBED-5950AAB388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9A9426-2A28-CB0C-49C7-BB49EA77590E}"/>
              </a:ext>
            </a:extLst>
          </p:cNvPr>
          <p:cNvSpPr>
            <a:spLocks noGrp="1"/>
          </p:cNvSpPr>
          <p:nvPr>
            <p:ph type="dt" sz="half" idx="10"/>
          </p:nvPr>
        </p:nvSpPr>
        <p:spPr/>
        <p:txBody>
          <a:bodyPr/>
          <a:lstStyle/>
          <a:p>
            <a:fld id="{8B776124-F937-4D7D-B198-FB1D847D3059}" type="datetimeFigureOut">
              <a:rPr lang="en-US" smtClean="0"/>
              <a:t>2/13/2025</a:t>
            </a:fld>
            <a:endParaRPr lang="en-US"/>
          </a:p>
        </p:txBody>
      </p:sp>
      <p:sp>
        <p:nvSpPr>
          <p:cNvPr id="5" name="Footer Placeholder 4">
            <a:extLst>
              <a:ext uri="{FF2B5EF4-FFF2-40B4-BE49-F238E27FC236}">
                <a16:creationId xmlns:a16="http://schemas.microsoft.com/office/drawing/2014/main" id="{69DD3960-F5A2-421C-60A2-129B7ACE5E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34B428-AB86-D610-9489-666EE8482EF7}"/>
              </a:ext>
            </a:extLst>
          </p:cNvPr>
          <p:cNvSpPr>
            <a:spLocks noGrp="1"/>
          </p:cNvSpPr>
          <p:nvPr>
            <p:ph type="sldNum" sz="quarter" idx="12"/>
          </p:nvPr>
        </p:nvSpPr>
        <p:spPr/>
        <p:txBody>
          <a:bodyPr/>
          <a:lstStyle/>
          <a:p>
            <a:fld id="{61337324-6D80-42E7-9620-80FD39A7AA9A}" type="slidenum">
              <a:rPr lang="en-US" smtClean="0"/>
              <a:t>‹#›</a:t>
            </a:fld>
            <a:endParaRPr lang="en-US"/>
          </a:p>
        </p:txBody>
      </p:sp>
    </p:spTree>
    <p:extLst>
      <p:ext uri="{BB962C8B-B14F-4D97-AF65-F5344CB8AC3E}">
        <p14:creationId xmlns:p14="http://schemas.microsoft.com/office/powerpoint/2010/main" val="1292616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AEE3E-C7BC-DD7C-D79B-4B5FFDFC47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EC4E0D-F29B-C727-E89C-2D00C9D234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FF4718-6E0D-CAED-17BE-38B1259EB4A4}"/>
              </a:ext>
            </a:extLst>
          </p:cNvPr>
          <p:cNvSpPr>
            <a:spLocks noGrp="1"/>
          </p:cNvSpPr>
          <p:nvPr>
            <p:ph type="dt" sz="half" idx="10"/>
          </p:nvPr>
        </p:nvSpPr>
        <p:spPr/>
        <p:txBody>
          <a:bodyPr/>
          <a:lstStyle/>
          <a:p>
            <a:fld id="{8B776124-F937-4D7D-B198-FB1D847D3059}" type="datetimeFigureOut">
              <a:rPr lang="en-US" smtClean="0"/>
              <a:t>2/13/2025</a:t>
            </a:fld>
            <a:endParaRPr lang="en-US"/>
          </a:p>
        </p:txBody>
      </p:sp>
      <p:sp>
        <p:nvSpPr>
          <p:cNvPr id="5" name="Footer Placeholder 4">
            <a:extLst>
              <a:ext uri="{FF2B5EF4-FFF2-40B4-BE49-F238E27FC236}">
                <a16:creationId xmlns:a16="http://schemas.microsoft.com/office/drawing/2014/main" id="{1EA2A560-E353-3199-A792-ACBD8BF703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5F507A-AA97-EF03-ED13-585B0E149F49}"/>
              </a:ext>
            </a:extLst>
          </p:cNvPr>
          <p:cNvSpPr>
            <a:spLocks noGrp="1"/>
          </p:cNvSpPr>
          <p:nvPr>
            <p:ph type="sldNum" sz="quarter" idx="12"/>
          </p:nvPr>
        </p:nvSpPr>
        <p:spPr/>
        <p:txBody>
          <a:bodyPr/>
          <a:lstStyle/>
          <a:p>
            <a:fld id="{61337324-6D80-42E7-9620-80FD39A7AA9A}" type="slidenum">
              <a:rPr lang="en-US" smtClean="0"/>
              <a:t>‹#›</a:t>
            </a:fld>
            <a:endParaRPr lang="en-US"/>
          </a:p>
        </p:txBody>
      </p:sp>
    </p:spTree>
    <p:extLst>
      <p:ext uri="{BB962C8B-B14F-4D97-AF65-F5344CB8AC3E}">
        <p14:creationId xmlns:p14="http://schemas.microsoft.com/office/powerpoint/2010/main" val="3471664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8AE24-4EBA-EF15-5ED5-561696FBCB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508F86-6F8F-8F89-DD14-B1027E4FBC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382AA1-9DDC-7E62-E27C-8078C603CC28}"/>
              </a:ext>
            </a:extLst>
          </p:cNvPr>
          <p:cNvSpPr>
            <a:spLocks noGrp="1"/>
          </p:cNvSpPr>
          <p:nvPr>
            <p:ph type="dt" sz="half" idx="10"/>
          </p:nvPr>
        </p:nvSpPr>
        <p:spPr/>
        <p:txBody>
          <a:bodyPr/>
          <a:lstStyle/>
          <a:p>
            <a:fld id="{8B776124-F937-4D7D-B198-FB1D847D3059}" type="datetimeFigureOut">
              <a:rPr lang="en-US" smtClean="0"/>
              <a:t>2/13/2025</a:t>
            </a:fld>
            <a:endParaRPr lang="en-US"/>
          </a:p>
        </p:txBody>
      </p:sp>
      <p:sp>
        <p:nvSpPr>
          <p:cNvPr id="5" name="Footer Placeholder 4">
            <a:extLst>
              <a:ext uri="{FF2B5EF4-FFF2-40B4-BE49-F238E27FC236}">
                <a16:creationId xmlns:a16="http://schemas.microsoft.com/office/drawing/2014/main" id="{D23BC101-2467-1FB9-23E4-C0F0B0C257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DA9291-DDFE-4784-301D-B856427E7D1C}"/>
              </a:ext>
            </a:extLst>
          </p:cNvPr>
          <p:cNvSpPr>
            <a:spLocks noGrp="1"/>
          </p:cNvSpPr>
          <p:nvPr>
            <p:ph type="sldNum" sz="quarter" idx="12"/>
          </p:nvPr>
        </p:nvSpPr>
        <p:spPr/>
        <p:txBody>
          <a:bodyPr/>
          <a:lstStyle/>
          <a:p>
            <a:fld id="{61337324-6D80-42E7-9620-80FD39A7AA9A}" type="slidenum">
              <a:rPr lang="en-US" smtClean="0"/>
              <a:t>‹#›</a:t>
            </a:fld>
            <a:endParaRPr lang="en-US"/>
          </a:p>
        </p:txBody>
      </p:sp>
    </p:spTree>
    <p:extLst>
      <p:ext uri="{BB962C8B-B14F-4D97-AF65-F5344CB8AC3E}">
        <p14:creationId xmlns:p14="http://schemas.microsoft.com/office/powerpoint/2010/main" val="3139233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4C862-4256-BE88-4A9B-323ECF94D9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E563B7-7FC6-60DC-8483-AD5AFC386E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FD7A87-AE34-8B4A-6FCA-874D59D9B3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176AE6-49FE-7B7C-3371-72D9DFA1DA56}"/>
              </a:ext>
            </a:extLst>
          </p:cNvPr>
          <p:cNvSpPr>
            <a:spLocks noGrp="1"/>
          </p:cNvSpPr>
          <p:nvPr>
            <p:ph type="dt" sz="half" idx="10"/>
          </p:nvPr>
        </p:nvSpPr>
        <p:spPr/>
        <p:txBody>
          <a:bodyPr/>
          <a:lstStyle/>
          <a:p>
            <a:fld id="{8B776124-F937-4D7D-B198-FB1D847D3059}" type="datetimeFigureOut">
              <a:rPr lang="en-US" smtClean="0"/>
              <a:t>2/13/2025</a:t>
            </a:fld>
            <a:endParaRPr lang="en-US"/>
          </a:p>
        </p:txBody>
      </p:sp>
      <p:sp>
        <p:nvSpPr>
          <p:cNvPr id="6" name="Footer Placeholder 5">
            <a:extLst>
              <a:ext uri="{FF2B5EF4-FFF2-40B4-BE49-F238E27FC236}">
                <a16:creationId xmlns:a16="http://schemas.microsoft.com/office/drawing/2014/main" id="{2FCBE7E1-D5A6-8AA3-1AA3-F7E8D0B6C8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7FE53B-0B12-19D7-0B74-83B07F370634}"/>
              </a:ext>
            </a:extLst>
          </p:cNvPr>
          <p:cNvSpPr>
            <a:spLocks noGrp="1"/>
          </p:cNvSpPr>
          <p:nvPr>
            <p:ph type="sldNum" sz="quarter" idx="12"/>
          </p:nvPr>
        </p:nvSpPr>
        <p:spPr/>
        <p:txBody>
          <a:bodyPr/>
          <a:lstStyle/>
          <a:p>
            <a:fld id="{61337324-6D80-42E7-9620-80FD39A7AA9A}" type="slidenum">
              <a:rPr lang="en-US" smtClean="0"/>
              <a:t>‹#›</a:t>
            </a:fld>
            <a:endParaRPr lang="en-US"/>
          </a:p>
        </p:txBody>
      </p:sp>
    </p:spTree>
    <p:extLst>
      <p:ext uri="{BB962C8B-B14F-4D97-AF65-F5344CB8AC3E}">
        <p14:creationId xmlns:p14="http://schemas.microsoft.com/office/powerpoint/2010/main" val="1198275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62F46-9068-0D39-616A-15F6C2E9C6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989720-A3D2-701D-EDE8-D20FDF7FDE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F70C64-9494-5DD4-1663-E20DE45FD1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69C9DB-304B-49AC-FCFE-AA7CE706AD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57FADC-48FC-8115-63A5-06F797BEB2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D631B8-B691-31C8-2CB0-5F2664F6A36F}"/>
              </a:ext>
            </a:extLst>
          </p:cNvPr>
          <p:cNvSpPr>
            <a:spLocks noGrp="1"/>
          </p:cNvSpPr>
          <p:nvPr>
            <p:ph type="dt" sz="half" idx="10"/>
          </p:nvPr>
        </p:nvSpPr>
        <p:spPr/>
        <p:txBody>
          <a:bodyPr/>
          <a:lstStyle/>
          <a:p>
            <a:fld id="{8B776124-F937-4D7D-B198-FB1D847D3059}" type="datetimeFigureOut">
              <a:rPr lang="en-US" smtClean="0"/>
              <a:t>2/13/2025</a:t>
            </a:fld>
            <a:endParaRPr lang="en-US"/>
          </a:p>
        </p:txBody>
      </p:sp>
      <p:sp>
        <p:nvSpPr>
          <p:cNvPr id="8" name="Footer Placeholder 7">
            <a:extLst>
              <a:ext uri="{FF2B5EF4-FFF2-40B4-BE49-F238E27FC236}">
                <a16:creationId xmlns:a16="http://schemas.microsoft.com/office/drawing/2014/main" id="{28CB0509-2F90-371A-ABC1-1A2BC03F8F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4BAEEC-9750-E0E7-AB00-86887D62F42B}"/>
              </a:ext>
            </a:extLst>
          </p:cNvPr>
          <p:cNvSpPr>
            <a:spLocks noGrp="1"/>
          </p:cNvSpPr>
          <p:nvPr>
            <p:ph type="sldNum" sz="quarter" idx="12"/>
          </p:nvPr>
        </p:nvSpPr>
        <p:spPr/>
        <p:txBody>
          <a:bodyPr/>
          <a:lstStyle/>
          <a:p>
            <a:fld id="{61337324-6D80-42E7-9620-80FD39A7AA9A}" type="slidenum">
              <a:rPr lang="en-US" smtClean="0"/>
              <a:t>‹#›</a:t>
            </a:fld>
            <a:endParaRPr lang="en-US"/>
          </a:p>
        </p:txBody>
      </p:sp>
    </p:spTree>
    <p:extLst>
      <p:ext uri="{BB962C8B-B14F-4D97-AF65-F5344CB8AC3E}">
        <p14:creationId xmlns:p14="http://schemas.microsoft.com/office/powerpoint/2010/main" val="4227978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E0C77-5581-9ED8-7381-806D81A693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CCB5A9-62B9-5C6F-8419-10D2A4313E5B}"/>
              </a:ext>
            </a:extLst>
          </p:cNvPr>
          <p:cNvSpPr>
            <a:spLocks noGrp="1"/>
          </p:cNvSpPr>
          <p:nvPr>
            <p:ph type="dt" sz="half" idx="10"/>
          </p:nvPr>
        </p:nvSpPr>
        <p:spPr/>
        <p:txBody>
          <a:bodyPr/>
          <a:lstStyle/>
          <a:p>
            <a:fld id="{8B776124-F937-4D7D-B198-FB1D847D3059}" type="datetimeFigureOut">
              <a:rPr lang="en-US" smtClean="0"/>
              <a:t>2/13/2025</a:t>
            </a:fld>
            <a:endParaRPr lang="en-US"/>
          </a:p>
        </p:txBody>
      </p:sp>
      <p:sp>
        <p:nvSpPr>
          <p:cNvPr id="4" name="Footer Placeholder 3">
            <a:extLst>
              <a:ext uri="{FF2B5EF4-FFF2-40B4-BE49-F238E27FC236}">
                <a16:creationId xmlns:a16="http://schemas.microsoft.com/office/drawing/2014/main" id="{790A8972-D370-556A-30B0-A12EB1149B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5B092B-C1C9-4394-1615-A3B7AD796A4F}"/>
              </a:ext>
            </a:extLst>
          </p:cNvPr>
          <p:cNvSpPr>
            <a:spLocks noGrp="1"/>
          </p:cNvSpPr>
          <p:nvPr>
            <p:ph type="sldNum" sz="quarter" idx="12"/>
          </p:nvPr>
        </p:nvSpPr>
        <p:spPr/>
        <p:txBody>
          <a:bodyPr/>
          <a:lstStyle/>
          <a:p>
            <a:fld id="{61337324-6D80-42E7-9620-80FD39A7AA9A}" type="slidenum">
              <a:rPr lang="en-US" smtClean="0"/>
              <a:t>‹#›</a:t>
            </a:fld>
            <a:endParaRPr lang="en-US"/>
          </a:p>
        </p:txBody>
      </p:sp>
    </p:spTree>
    <p:extLst>
      <p:ext uri="{BB962C8B-B14F-4D97-AF65-F5344CB8AC3E}">
        <p14:creationId xmlns:p14="http://schemas.microsoft.com/office/powerpoint/2010/main" val="1720350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C75DF7-6F72-3A5D-7B59-C595B3BCDD42}"/>
              </a:ext>
            </a:extLst>
          </p:cNvPr>
          <p:cNvSpPr>
            <a:spLocks noGrp="1"/>
          </p:cNvSpPr>
          <p:nvPr>
            <p:ph type="dt" sz="half" idx="10"/>
          </p:nvPr>
        </p:nvSpPr>
        <p:spPr/>
        <p:txBody>
          <a:bodyPr/>
          <a:lstStyle/>
          <a:p>
            <a:fld id="{8B776124-F937-4D7D-B198-FB1D847D3059}" type="datetimeFigureOut">
              <a:rPr lang="en-US" smtClean="0"/>
              <a:t>2/13/2025</a:t>
            </a:fld>
            <a:endParaRPr lang="en-US"/>
          </a:p>
        </p:txBody>
      </p:sp>
      <p:sp>
        <p:nvSpPr>
          <p:cNvPr id="3" name="Footer Placeholder 2">
            <a:extLst>
              <a:ext uri="{FF2B5EF4-FFF2-40B4-BE49-F238E27FC236}">
                <a16:creationId xmlns:a16="http://schemas.microsoft.com/office/drawing/2014/main" id="{18E0F415-4E0D-70B7-9D31-703596C848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D43779-53D5-B27A-648B-06DFBD5C102E}"/>
              </a:ext>
            </a:extLst>
          </p:cNvPr>
          <p:cNvSpPr>
            <a:spLocks noGrp="1"/>
          </p:cNvSpPr>
          <p:nvPr>
            <p:ph type="sldNum" sz="quarter" idx="12"/>
          </p:nvPr>
        </p:nvSpPr>
        <p:spPr/>
        <p:txBody>
          <a:bodyPr/>
          <a:lstStyle/>
          <a:p>
            <a:fld id="{61337324-6D80-42E7-9620-80FD39A7AA9A}" type="slidenum">
              <a:rPr lang="en-US" smtClean="0"/>
              <a:t>‹#›</a:t>
            </a:fld>
            <a:endParaRPr lang="en-US"/>
          </a:p>
        </p:txBody>
      </p:sp>
    </p:spTree>
    <p:extLst>
      <p:ext uri="{BB962C8B-B14F-4D97-AF65-F5344CB8AC3E}">
        <p14:creationId xmlns:p14="http://schemas.microsoft.com/office/powerpoint/2010/main" val="3844538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20174-0E5E-E006-5300-9148B0CF5D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3CD16B-2808-8976-5CB7-0B6CB8AE87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7AE428-854D-73E6-DF3A-CA65F7A616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A01767-7851-D10D-E110-248439A4FD15}"/>
              </a:ext>
            </a:extLst>
          </p:cNvPr>
          <p:cNvSpPr>
            <a:spLocks noGrp="1"/>
          </p:cNvSpPr>
          <p:nvPr>
            <p:ph type="dt" sz="half" idx="10"/>
          </p:nvPr>
        </p:nvSpPr>
        <p:spPr/>
        <p:txBody>
          <a:bodyPr/>
          <a:lstStyle/>
          <a:p>
            <a:fld id="{8B776124-F937-4D7D-B198-FB1D847D3059}" type="datetimeFigureOut">
              <a:rPr lang="en-US" smtClean="0"/>
              <a:t>2/13/2025</a:t>
            </a:fld>
            <a:endParaRPr lang="en-US"/>
          </a:p>
        </p:txBody>
      </p:sp>
      <p:sp>
        <p:nvSpPr>
          <p:cNvPr id="6" name="Footer Placeholder 5">
            <a:extLst>
              <a:ext uri="{FF2B5EF4-FFF2-40B4-BE49-F238E27FC236}">
                <a16:creationId xmlns:a16="http://schemas.microsoft.com/office/drawing/2014/main" id="{4333ECF3-AB21-C310-A673-1D2F4C76F8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C9F3DC-0A4D-CB2A-C042-B9E229533AED}"/>
              </a:ext>
            </a:extLst>
          </p:cNvPr>
          <p:cNvSpPr>
            <a:spLocks noGrp="1"/>
          </p:cNvSpPr>
          <p:nvPr>
            <p:ph type="sldNum" sz="quarter" idx="12"/>
          </p:nvPr>
        </p:nvSpPr>
        <p:spPr/>
        <p:txBody>
          <a:bodyPr/>
          <a:lstStyle/>
          <a:p>
            <a:fld id="{61337324-6D80-42E7-9620-80FD39A7AA9A}" type="slidenum">
              <a:rPr lang="en-US" smtClean="0"/>
              <a:t>‹#›</a:t>
            </a:fld>
            <a:endParaRPr lang="en-US"/>
          </a:p>
        </p:txBody>
      </p:sp>
    </p:spTree>
    <p:extLst>
      <p:ext uri="{BB962C8B-B14F-4D97-AF65-F5344CB8AC3E}">
        <p14:creationId xmlns:p14="http://schemas.microsoft.com/office/powerpoint/2010/main" val="4112738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A03FB-2921-B5E3-4AEB-435D770347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12433B-1F89-2239-C5C0-50B60FEAB9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DA500F-BA91-9E2E-490D-9E3F956162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71D587-B3B1-F51B-72A5-8CCD22A7B9C9}"/>
              </a:ext>
            </a:extLst>
          </p:cNvPr>
          <p:cNvSpPr>
            <a:spLocks noGrp="1"/>
          </p:cNvSpPr>
          <p:nvPr>
            <p:ph type="dt" sz="half" idx="10"/>
          </p:nvPr>
        </p:nvSpPr>
        <p:spPr/>
        <p:txBody>
          <a:bodyPr/>
          <a:lstStyle/>
          <a:p>
            <a:fld id="{8B776124-F937-4D7D-B198-FB1D847D3059}" type="datetimeFigureOut">
              <a:rPr lang="en-US" smtClean="0"/>
              <a:t>2/13/2025</a:t>
            </a:fld>
            <a:endParaRPr lang="en-US"/>
          </a:p>
        </p:txBody>
      </p:sp>
      <p:sp>
        <p:nvSpPr>
          <p:cNvPr id="6" name="Footer Placeholder 5">
            <a:extLst>
              <a:ext uri="{FF2B5EF4-FFF2-40B4-BE49-F238E27FC236}">
                <a16:creationId xmlns:a16="http://schemas.microsoft.com/office/drawing/2014/main" id="{2E346668-2A04-C379-4BC8-DADF546167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00D0DC-3061-A252-0B76-7F8A0E9D8005}"/>
              </a:ext>
            </a:extLst>
          </p:cNvPr>
          <p:cNvSpPr>
            <a:spLocks noGrp="1"/>
          </p:cNvSpPr>
          <p:nvPr>
            <p:ph type="sldNum" sz="quarter" idx="12"/>
          </p:nvPr>
        </p:nvSpPr>
        <p:spPr/>
        <p:txBody>
          <a:bodyPr/>
          <a:lstStyle/>
          <a:p>
            <a:fld id="{61337324-6D80-42E7-9620-80FD39A7AA9A}" type="slidenum">
              <a:rPr lang="en-US" smtClean="0"/>
              <a:t>‹#›</a:t>
            </a:fld>
            <a:endParaRPr lang="en-US"/>
          </a:p>
        </p:txBody>
      </p:sp>
    </p:spTree>
    <p:extLst>
      <p:ext uri="{BB962C8B-B14F-4D97-AF65-F5344CB8AC3E}">
        <p14:creationId xmlns:p14="http://schemas.microsoft.com/office/powerpoint/2010/main" val="2039624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AAD83-8093-D0AA-CC16-9B13FC9FF5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4FD739-E0CD-61F9-5AA4-EDBD2DFAA3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863F72-956E-5557-F2F5-0BA989465D49}"/>
              </a:ext>
            </a:extLst>
          </p:cNvPr>
          <p:cNvSpPr>
            <a:spLocks noGrp="1"/>
          </p:cNvSpPr>
          <p:nvPr>
            <p:ph type="dt" sz="half" idx="10"/>
          </p:nvPr>
        </p:nvSpPr>
        <p:spPr/>
        <p:txBody>
          <a:bodyPr/>
          <a:lstStyle/>
          <a:p>
            <a:fld id="{8B776124-F937-4D7D-B198-FB1D847D3059}" type="datetimeFigureOut">
              <a:rPr lang="en-US" smtClean="0"/>
              <a:t>2/13/2025</a:t>
            </a:fld>
            <a:endParaRPr lang="en-US"/>
          </a:p>
        </p:txBody>
      </p:sp>
      <p:sp>
        <p:nvSpPr>
          <p:cNvPr id="5" name="Footer Placeholder 4">
            <a:extLst>
              <a:ext uri="{FF2B5EF4-FFF2-40B4-BE49-F238E27FC236}">
                <a16:creationId xmlns:a16="http://schemas.microsoft.com/office/drawing/2014/main" id="{F5ED3C32-8225-7F3B-A3AD-88D8633BD8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05F9AF-5E19-0E56-88EE-1E2C9689A48F}"/>
              </a:ext>
            </a:extLst>
          </p:cNvPr>
          <p:cNvSpPr>
            <a:spLocks noGrp="1"/>
          </p:cNvSpPr>
          <p:nvPr>
            <p:ph type="sldNum" sz="quarter" idx="12"/>
          </p:nvPr>
        </p:nvSpPr>
        <p:spPr/>
        <p:txBody>
          <a:bodyPr/>
          <a:lstStyle/>
          <a:p>
            <a:fld id="{61337324-6D80-42E7-9620-80FD39A7AA9A}" type="slidenum">
              <a:rPr lang="en-US" smtClean="0"/>
              <a:t>‹#›</a:t>
            </a:fld>
            <a:endParaRPr lang="en-US"/>
          </a:p>
        </p:txBody>
      </p:sp>
    </p:spTree>
    <p:extLst>
      <p:ext uri="{BB962C8B-B14F-4D97-AF65-F5344CB8AC3E}">
        <p14:creationId xmlns:p14="http://schemas.microsoft.com/office/powerpoint/2010/main" val="849521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2BB2BB-CDFE-90DA-8989-1D7E936510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DBB983-D428-DFBB-9224-CEA9524806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385FD0-FD17-0890-1CC4-8C5369FB3A08}"/>
              </a:ext>
            </a:extLst>
          </p:cNvPr>
          <p:cNvSpPr>
            <a:spLocks noGrp="1"/>
          </p:cNvSpPr>
          <p:nvPr>
            <p:ph type="dt" sz="half" idx="10"/>
          </p:nvPr>
        </p:nvSpPr>
        <p:spPr/>
        <p:txBody>
          <a:bodyPr/>
          <a:lstStyle/>
          <a:p>
            <a:fld id="{8B776124-F937-4D7D-B198-FB1D847D3059}" type="datetimeFigureOut">
              <a:rPr lang="en-US" smtClean="0"/>
              <a:t>2/13/2025</a:t>
            </a:fld>
            <a:endParaRPr lang="en-US"/>
          </a:p>
        </p:txBody>
      </p:sp>
      <p:sp>
        <p:nvSpPr>
          <p:cNvPr id="5" name="Footer Placeholder 4">
            <a:extLst>
              <a:ext uri="{FF2B5EF4-FFF2-40B4-BE49-F238E27FC236}">
                <a16:creationId xmlns:a16="http://schemas.microsoft.com/office/drawing/2014/main" id="{0C2826AA-823F-CCC0-3D9E-017621CD78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91E557-ECC6-E2A6-8121-661062F78B2F}"/>
              </a:ext>
            </a:extLst>
          </p:cNvPr>
          <p:cNvSpPr>
            <a:spLocks noGrp="1"/>
          </p:cNvSpPr>
          <p:nvPr>
            <p:ph type="sldNum" sz="quarter" idx="12"/>
          </p:nvPr>
        </p:nvSpPr>
        <p:spPr/>
        <p:txBody>
          <a:bodyPr/>
          <a:lstStyle/>
          <a:p>
            <a:fld id="{61337324-6D80-42E7-9620-80FD39A7AA9A}" type="slidenum">
              <a:rPr lang="en-US" smtClean="0"/>
              <a:t>‹#›</a:t>
            </a:fld>
            <a:endParaRPr lang="en-US"/>
          </a:p>
        </p:txBody>
      </p:sp>
    </p:spTree>
    <p:extLst>
      <p:ext uri="{BB962C8B-B14F-4D97-AF65-F5344CB8AC3E}">
        <p14:creationId xmlns:p14="http://schemas.microsoft.com/office/powerpoint/2010/main" val="2010184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35FABC-E836-692E-5526-F59C9D010B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3021FF-6F22-8784-A3AF-80BA1FA74B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0A8A2B-3305-1F79-7708-922DB6DA4D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776124-F937-4D7D-B198-FB1D847D3059}" type="datetimeFigureOut">
              <a:rPr lang="en-US" smtClean="0"/>
              <a:t>2/13/2025</a:t>
            </a:fld>
            <a:endParaRPr lang="en-US"/>
          </a:p>
        </p:txBody>
      </p:sp>
      <p:sp>
        <p:nvSpPr>
          <p:cNvPr id="5" name="Footer Placeholder 4">
            <a:extLst>
              <a:ext uri="{FF2B5EF4-FFF2-40B4-BE49-F238E27FC236}">
                <a16:creationId xmlns:a16="http://schemas.microsoft.com/office/drawing/2014/main" id="{7C6C71A1-B3C1-F5B7-64D7-5782BA898E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B6C6F6A-7FFA-7370-1325-ADE4D9303C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337324-6D80-42E7-9620-80FD39A7AA9A}" type="slidenum">
              <a:rPr lang="en-US" smtClean="0"/>
              <a:t>‹#›</a:t>
            </a:fld>
            <a:endParaRPr lang="en-US"/>
          </a:p>
        </p:txBody>
      </p:sp>
    </p:spTree>
    <p:extLst>
      <p:ext uri="{BB962C8B-B14F-4D97-AF65-F5344CB8AC3E}">
        <p14:creationId xmlns:p14="http://schemas.microsoft.com/office/powerpoint/2010/main" val="952131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4F51AE-0A50-FFC4-9318-87AB583B0ACA}"/>
              </a:ext>
            </a:extLst>
          </p:cNvPr>
          <p:cNvSpPr txBox="1"/>
          <p:nvPr/>
        </p:nvSpPr>
        <p:spPr>
          <a:xfrm>
            <a:off x="1890408" y="313394"/>
            <a:ext cx="3685022" cy="954107"/>
          </a:xfrm>
          <a:prstGeom prst="rect">
            <a:avLst/>
          </a:prstGeom>
          <a:noFill/>
        </p:spPr>
        <p:txBody>
          <a:bodyPr wrap="square">
            <a:spAutoFit/>
          </a:bodyPr>
          <a:lstStyle/>
          <a:p>
            <a:r>
              <a:rPr lang="en-US" sz="2800" b="1" i="0" u="none" strike="noStrike" baseline="0">
                <a:solidFill>
                  <a:srgbClr val="8913FB"/>
                </a:solidFill>
                <a:latin typeface="Arial" panose="020B0604020202020204" pitchFamily="34" charset="0"/>
                <a:cs typeface="Arial" panose="020B0604020202020204" pitchFamily="34" charset="0"/>
              </a:rPr>
              <a:t>Chloe Tenembaum</a:t>
            </a:r>
          </a:p>
          <a:p>
            <a:r>
              <a:rPr lang="en-US" sz="1600" b="1">
                <a:solidFill>
                  <a:srgbClr val="3A00A2"/>
                </a:solidFill>
                <a:latin typeface="Arial" panose="020B0604020202020204" pitchFamily="34" charset="0"/>
                <a:cs typeface="Arial" panose="020B0604020202020204" pitchFamily="34" charset="0"/>
              </a:rPr>
              <a:t>Business Process Analyst</a:t>
            </a:r>
          </a:p>
          <a:p>
            <a:r>
              <a:rPr lang="en-US" sz="1200" b="1">
                <a:solidFill>
                  <a:srgbClr val="4C4C45"/>
                </a:solidFill>
                <a:latin typeface="Arial" panose="020B0604020202020204" pitchFamily="34" charset="0"/>
                <a:cs typeface="Arial" panose="020B0604020202020204" pitchFamily="34" charset="0"/>
              </a:rPr>
              <a:t>Data Visualization and Analytics</a:t>
            </a:r>
            <a:endParaRPr lang="en-US" sz="1200" b="1">
              <a:solidFill>
                <a:srgbClr val="3A00A2"/>
              </a:solidFill>
              <a:latin typeface="Arial" panose="020B0604020202020204" pitchFamily="34" charset="0"/>
              <a:cs typeface="Arial" panose="020B0604020202020204" pitchFamily="34" charset="0"/>
            </a:endParaRPr>
          </a:p>
        </p:txBody>
      </p:sp>
      <p:pic>
        <p:nvPicPr>
          <p:cNvPr id="7" name="Picture 6" descr="A person smiling for the camera&#10;&#10;Description automatically generated with medium confidence">
            <a:extLst>
              <a:ext uri="{FF2B5EF4-FFF2-40B4-BE49-F238E27FC236}">
                <a16:creationId xmlns:a16="http://schemas.microsoft.com/office/drawing/2014/main" id="{E8C277E7-CE80-AACE-4BCB-FB368861188F}"/>
              </a:ext>
            </a:extLst>
          </p:cNvPr>
          <p:cNvPicPr>
            <a:picLocks noChangeAspect="1"/>
          </p:cNvPicPr>
          <p:nvPr/>
        </p:nvPicPr>
        <p:blipFill rotWithShape="1">
          <a:blip r:embed="rId3">
            <a:extLst>
              <a:ext uri="{28A0092B-C50C-407E-A947-70E740481C1C}">
                <a14:useLocalDpi xmlns:a14="http://schemas.microsoft.com/office/drawing/2010/main" val="0"/>
              </a:ext>
            </a:extLst>
          </a:blip>
          <a:srcRect t="9550" b="19030"/>
          <a:stretch/>
        </p:blipFill>
        <p:spPr>
          <a:xfrm>
            <a:off x="369748" y="338095"/>
            <a:ext cx="1339164" cy="1434997"/>
          </a:xfrm>
          <a:prstGeom prst="rect">
            <a:avLst/>
          </a:prstGeom>
        </p:spPr>
      </p:pic>
      <p:sp>
        <p:nvSpPr>
          <p:cNvPr id="11" name="TextBox 10">
            <a:extLst>
              <a:ext uri="{FF2B5EF4-FFF2-40B4-BE49-F238E27FC236}">
                <a16:creationId xmlns:a16="http://schemas.microsoft.com/office/drawing/2014/main" id="{1A3BD1C6-8255-C7E6-8B6B-74B79E71D020}"/>
              </a:ext>
            </a:extLst>
          </p:cNvPr>
          <p:cNvSpPr txBox="1"/>
          <p:nvPr/>
        </p:nvSpPr>
        <p:spPr>
          <a:xfrm>
            <a:off x="340179" y="2126630"/>
            <a:ext cx="5422570" cy="2862322"/>
          </a:xfrm>
          <a:prstGeom prst="rect">
            <a:avLst/>
          </a:prstGeom>
          <a:noFill/>
        </p:spPr>
        <p:txBody>
          <a:bodyPr wrap="square" lIns="91440" tIns="45720" rIns="91440" bIns="45720" anchor="t">
            <a:spAutoFit/>
          </a:bodyPr>
          <a:lstStyle/>
          <a:p>
            <a:r>
              <a:rPr lang="en-US" sz="1600" b="1" i="0" u="none" strike="noStrike" baseline="0" dirty="0">
                <a:solidFill>
                  <a:srgbClr val="60009B"/>
                </a:solidFill>
                <a:latin typeface="Arial" panose="020B0604020202020204" pitchFamily="34" charset="0"/>
                <a:cs typeface="Arial" panose="020B0604020202020204" pitchFamily="34" charset="0"/>
              </a:rPr>
              <a:t>BACKGROUND</a:t>
            </a:r>
          </a:p>
          <a:p>
            <a:r>
              <a:rPr lang="en-US" sz="1100" dirty="0">
                <a:latin typeface="Arial"/>
                <a:cs typeface="Arial"/>
              </a:rPr>
              <a:t>Chloe is a recent college graduate from Virginia Tech with a background in data analytics and research. She is skilled in end-to-end data handling processes, including extracting data from servers, cleaning and transforming datasets, and developing interactive dashboards in Power BI. She is eager to leverage her background in medical research to contribute to impactful federal health initiatives.</a:t>
            </a:r>
            <a:endParaRPr lang="en-US" sz="1100" i="0" u="none" strike="noStrike" baseline="0" dirty="0">
              <a:solidFill>
                <a:srgbClr val="000000"/>
              </a:solidFill>
              <a:latin typeface="Arial" panose="020B0604020202020204" pitchFamily="34" charset="0"/>
              <a:cs typeface="Arial" panose="020B0604020202020204" pitchFamily="34" charset="0"/>
            </a:endParaRPr>
          </a:p>
          <a:p>
            <a:endParaRPr lang="en-US" sz="1100" dirty="0">
              <a:solidFill>
                <a:srgbClr val="000000"/>
              </a:solidFill>
              <a:latin typeface="Arial"/>
              <a:cs typeface="Arial"/>
            </a:endParaRPr>
          </a:p>
          <a:p>
            <a:r>
              <a:rPr lang="en-US" sz="1100" b="1" i="0" u="none" strike="noStrike" baseline="0" dirty="0">
                <a:solidFill>
                  <a:srgbClr val="42422F"/>
                </a:solidFill>
                <a:latin typeface="Arial"/>
                <a:cs typeface="Arial"/>
              </a:rPr>
              <a:t>Education:</a:t>
            </a:r>
            <a:r>
              <a:rPr lang="en-US" sz="1100" b="1" dirty="0">
                <a:solidFill>
                  <a:srgbClr val="42422F"/>
                </a:solidFill>
                <a:latin typeface="Arial"/>
                <a:cs typeface="Arial"/>
              </a:rPr>
              <a:t> </a:t>
            </a:r>
            <a:r>
              <a:rPr lang="en-US" sz="1100" b="0" i="0" u="none" strike="noStrike" baseline="0" dirty="0">
                <a:solidFill>
                  <a:srgbClr val="000000"/>
                </a:solidFill>
                <a:latin typeface="Arial"/>
                <a:cs typeface="Arial"/>
              </a:rPr>
              <a:t>Virginia Tech</a:t>
            </a:r>
            <a:r>
              <a:rPr lang="en-US" sz="1100" dirty="0">
                <a:solidFill>
                  <a:srgbClr val="000000"/>
                </a:solidFill>
                <a:latin typeface="Arial"/>
                <a:cs typeface="Arial"/>
              </a:rPr>
              <a:t> </a:t>
            </a:r>
            <a:r>
              <a:rPr lang="en-US" sz="1100" b="0" i="0" u="none" strike="noStrike" baseline="0" dirty="0">
                <a:solidFill>
                  <a:srgbClr val="000000"/>
                </a:solidFill>
                <a:latin typeface="Arial"/>
                <a:cs typeface="Arial"/>
              </a:rPr>
              <a:t>|</a:t>
            </a:r>
            <a:r>
              <a:rPr lang="en-US" sz="1100" dirty="0">
                <a:solidFill>
                  <a:srgbClr val="000000"/>
                </a:solidFill>
                <a:latin typeface="Arial"/>
                <a:cs typeface="Arial"/>
              </a:rPr>
              <a:t> </a:t>
            </a:r>
            <a:r>
              <a:rPr lang="en-US" sz="1100" b="0" i="0" u="none" strike="noStrike" baseline="0" dirty="0">
                <a:solidFill>
                  <a:srgbClr val="000000"/>
                </a:solidFill>
                <a:latin typeface="Arial"/>
                <a:cs typeface="Arial"/>
              </a:rPr>
              <a:t>B.</a:t>
            </a:r>
            <a:r>
              <a:rPr lang="en-US" sz="1100" dirty="0">
                <a:solidFill>
                  <a:srgbClr val="000000"/>
                </a:solidFill>
                <a:latin typeface="Arial"/>
                <a:cs typeface="Arial"/>
              </a:rPr>
              <a:t>S. in Biomedical Engineering – August 2019-May 2023</a:t>
            </a:r>
          </a:p>
          <a:p>
            <a:endParaRPr lang="en-US" sz="1100" b="1" i="0" u="none" strike="noStrike" baseline="0" dirty="0">
              <a:solidFill>
                <a:srgbClr val="42422F"/>
              </a:solidFill>
              <a:latin typeface="Arial" panose="020B0604020202020204" pitchFamily="34" charset="0"/>
              <a:cs typeface="Arial" panose="020B0604020202020204" pitchFamily="34" charset="0"/>
            </a:endParaRPr>
          </a:p>
          <a:p>
            <a:r>
              <a:rPr lang="en-US" sz="1100" b="1" i="0" u="none" strike="noStrike" baseline="0" dirty="0">
                <a:solidFill>
                  <a:srgbClr val="42422F"/>
                </a:solidFill>
                <a:latin typeface="Arial" panose="020B0604020202020204" pitchFamily="34" charset="0"/>
                <a:cs typeface="Arial" panose="020B0604020202020204" pitchFamily="34" charset="0"/>
              </a:rPr>
              <a:t>Interests</a:t>
            </a:r>
            <a:r>
              <a:rPr lang="en-US" sz="1100" b="0" i="0" u="none" strike="noStrike" baseline="0" dirty="0">
                <a:solidFill>
                  <a:srgbClr val="42422F"/>
                </a:solidFill>
                <a:latin typeface="Arial" panose="020B0604020202020204" pitchFamily="34" charset="0"/>
                <a:cs typeface="Arial" panose="020B0604020202020204" pitchFamily="34" charset="0"/>
              </a:rPr>
              <a:t>: </a:t>
            </a:r>
            <a:r>
              <a:rPr lang="en-US" sz="1100" b="0" i="0" u="none" strike="noStrike" baseline="0" dirty="0">
                <a:latin typeface="Arial" panose="020B0604020202020204" pitchFamily="34" charset="0"/>
                <a:cs typeface="Arial" panose="020B0604020202020204" pitchFamily="34" charset="0"/>
              </a:rPr>
              <a:t>Data visualization,</a:t>
            </a:r>
            <a:r>
              <a:rPr lang="en-US" sz="1100" dirty="0">
                <a:latin typeface="Arial" panose="020B0604020202020204" pitchFamily="34" charset="0"/>
                <a:cs typeface="Arial" panose="020B0604020202020204" pitchFamily="34" charset="0"/>
              </a:rPr>
              <a:t> data cleaning, dashboard creation, predictive modeling, storytelling, and business analytics.</a:t>
            </a:r>
          </a:p>
          <a:p>
            <a:endParaRPr lang="en-US" sz="1100" dirty="0">
              <a:latin typeface="Arial" panose="020B0604020202020204" pitchFamily="34" charset="0"/>
              <a:cs typeface="Arial" panose="020B0604020202020204" pitchFamily="34" charset="0"/>
            </a:endParaRPr>
          </a:p>
          <a:p>
            <a:r>
              <a:rPr lang="en-US" sz="1100" b="1" i="0" u="none" strike="noStrike" baseline="0" dirty="0">
                <a:solidFill>
                  <a:srgbClr val="42422F"/>
                </a:solidFill>
                <a:latin typeface="Arial"/>
                <a:cs typeface="Arial"/>
              </a:rPr>
              <a:t>Certifications:</a:t>
            </a:r>
            <a:r>
              <a:rPr lang="en-US" sz="1100" i="0" u="none" strike="noStrike" baseline="0" dirty="0">
                <a:solidFill>
                  <a:srgbClr val="000000"/>
                </a:solidFill>
                <a:latin typeface="Arial"/>
                <a:cs typeface="Arial"/>
              </a:rPr>
              <a:t> </a:t>
            </a:r>
            <a:r>
              <a:rPr lang="en-US" sz="1100" dirty="0">
                <a:latin typeface="Arial"/>
                <a:cs typeface="Arial"/>
              </a:rPr>
              <a:t>Salesforce Certified: Tableau CRM and Einstein Discovery Consultant (2024), Microsoft Certified: Power BI Data Analyst Associate (2023).</a:t>
            </a:r>
            <a:endParaRPr lang="en-US" sz="1100" b="0" i="0" u="none" strike="noStrike" baseline="0" dirty="0">
              <a:latin typeface="Arial"/>
              <a:cs typeface="Arial"/>
            </a:endParaRPr>
          </a:p>
          <a:p>
            <a:endParaRPr lang="en-US" sz="1050" dirty="0">
              <a:solidFill>
                <a:srgbClr val="42422F"/>
              </a:solidFill>
              <a:latin typeface="Arial" panose="020B0604020202020204" pitchFamily="34" charset="0"/>
              <a:cs typeface="Arial" panose="020B0604020202020204" pitchFamily="34" charset="0"/>
            </a:endParaRPr>
          </a:p>
          <a:p>
            <a:endParaRPr lang="en-US" sz="1050" b="0" i="0" u="none" strike="noStrike" baseline="0" dirty="0">
              <a:solidFill>
                <a:srgbClr val="42422F"/>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B80AD9E-A860-74C8-B46C-83D9EADE3415}"/>
              </a:ext>
            </a:extLst>
          </p:cNvPr>
          <p:cNvSpPr txBox="1"/>
          <p:nvPr/>
        </p:nvSpPr>
        <p:spPr>
          <a:xfrm>
            <a:off x="340179" y="4885622"/>
            <a:ext cx="6093228" cy="1384995"/>
          </a:xfrm>
          <a:prstGeom prst="rect">
            <a:avLst/>
          </a:prstGeom>
          <a:noFill/>
        </p:spPr>
        <p:txBody>
          <a:bodyPr wrap="square">
            <a:spAutoFit/>
          </a:bodyPr>
          <a:lstStyle/>
          <a:p>
            <a:r>
              <a:rPr lang="en-US" sz="1600" b="1" i="0" u="none" strike="noStrike" baseline="0" dirty="0">
                <a:solidFill>
                  <a:srgbClr val="60009B"/>
                </a:solidFill>
                <a:latin typeface="Arial" panose="020B0604020202020204" pitchFamily="34" charset="0"/>
                <a:cs typeface="Arial" panose="020B0604020202020204" pitchFamily="34" charset="0"/>
              </a:rPr>
              <a:t>RELEVANT SKILLS – Technical/Functiona</a:t>
            </a:r>
            <a:r>
              <a:rPr lang="en-US" sz="1600" b="1" dirty="0">
                <a:solidFill>
                  <a:srgbClr val="60009B"/>
                </a:solidFill>
                <a:latin typeface="Arial" panose="020B0604020202020204" pitchFamily="34" charset="0"/>
                <a:cs typeface="Arial" panose="020B0604020202020204" pitchFamily="34" charset="0"/>
              </a:rPr>
              <a:t>l</a:t>
            </a:r>
            <a:endParaRPr lang="en-US" sz="1600" b="1" i="0" u="none" strike="noStrike" baseline="0" dirty="0">
              <a:solidFill>
                <a:srgbClr val="60009B"/>
              </a:solidFill>
              <a:latin typeface="Arial" panose="020B0604020202020204" pitchFamily="34" charset="0"/>
              <a:cs typeface="Arial" panose="020B0604020202020204" pitchFamily="34" charset="0"/>
            </a:endParaRPr>
          </a:p>
          <a:p>
            <a:endParaRPr lang="en-US" sz="700" b="0" i="0" u="none" strike="noStrike" baseline="0" dirty="0">
              <a:solidFill>
                <a:srgbClr val="000000"/>
              </a:solidFill>
              <a:latin typeface="Arial" panose="020B0604020202020204" pitchFamily="34" charset="0"/>
              <a:cs typeface="Arial" panose="020B0604020202020204" pitchFamily="34" charset="0"/>
            </a:endParaRPr>
          </a:p>
          <a:p>
            <a:r>
              <a:rPr lang="en-US" sz="1000" b="0" i="0" u="none" strike="noStrike" baseline="0" dirty="0">
                <a:solidFill>
                  <a:srgbClr val="A200FF"/>
                </a:solidFill>
                <a:latin typeface="Arial" panose="020B0604020202020204" pitchFamily="34" charset="0"/>
                <a:cs typeface="Arial" panose="020B0604020202020204" pitchFamily="34" charset="0"/>
              </a:rPr>
              <a:t>• </a:t>
            </a:r>
            <a:r>
              <a:rPr lang="en-US" sz="1000" b="0" i="0" u="none" strike="noStrike" baseline="0" dirty="0">
                <a:solidFill>
                  <a:srgbClr val="000000"/>
                </a:solidFill>
                <a:latin typeface="Arial" panose="020B0604020202020204" pitchFamily="34" charset="0"/>
                <a:cs typeface="Arial" panose="020B0604020202020204" pitchFamily="34" charset="0"/>
              </a:rPr>
              <a:t>Power BI		</a:t>
            </a:r>
            <a:r>
              <a:rPr lang="en-US" sz="1000" b="0" i="0" u="none" strike="noStrike" baseline="0" dirty="0">
                <a:solidFill>
                  <a:srgbClr val="A200FF"/>
                </a:solidFill>
                <a:latin typeface="Arial" panose="020B0604020202020204" pitchFamily="34" charset="0"/>
                <a:cs typeface="Arial" panose="020B0604020202020204" pitchFamily="34" charset="0"/>
              </a:rPr>
              <a:t>• </a:t>
            </a:r>
            <a:r>
              <a:rPr lang="en-US" sz="1000" b="0" i="0" u="none" strike="noStrike" baseline="0" dirty="0">
                <a:solidFill>
                  <a:srgbClr val="000000"/>
                </a:solidFill>
                <a:latin typeface="Arial" panose="020B0604020202020204" pitchFamily="34" charset="0"/>
                <a:cs typeface="Arial" panose="020B0604020202020204" pitchFamily="34" charset="0"/>
              </a:rPr>
              <a:t>Dashboard Creation	</a:t>
            </a:r>
            <a:r>
              <a:rPr lang="en-US" sz="1000" b="0" i="0" u="none" strike="noStrike" baseline="0" dirty="0">
                <a:solidFill>
                  <a:srgbClr val="A200FF"/>
                </a:solidFill>
                <a:latin typeface="Arial" panose="020B0604020202020204" pitchFamily="34" charset="0"/>
                <a:cs typeface="Arial" panose="020B0604020202020204" pitchFamily="34" charset="0"/>
              </a:rPr>
              <a:t>• </a:t>
            </a:r>
            <a:r>
              <a:rPr lang="en-US" sz="1000" dirty="0">
                <a:solidFill>
                  <a:srgbClr val="000000"/>
                </a:solidFill>
                <a:latin typeface="Arial" panose="020B0604020202020204" pitchFamily="34" charset="0"/>
                <a:cs typeface="Arial" panose="020B0604020202020204" pitchFamily="34" charset="0"/>
              </a:rPr>
              <a:t>SQL</a:t>
            </a:r>
            <a:endParaRPr lang="en-US" sz="1000" dirty="0">
              <a:latin typeface="Arial" panose="020B0604020202020204" pitchFamily="34" charset="0"/>
              <a:cs typeface="Arial" panose="020B0604020202020204" pitchFamily="34" charset="0"/>
            </a:endParaRPr>
          </a:p>
          <a:p>
            <a:r>
              <a:rPr lang="en-US" sz="1000" b="0" i="0" u="none" strike="noStrike" baseline="0" dirty="0">
                <a:solidFill>
                  <a:srgbClr val="A200FF"/>
                </a:solidFill>
                <a:latin typeface="Arial" panose="020B0604020202020204" pitchFamily="34" charset="0"/>
                <a:cs typeface="Arial" panose="020B0604020202020204" pitchFamily="34" charset="0"/>
              </a:rPr>
              <a:t>• </a:t>
            </a:r>
            <a:r>
              <a:rPr lang="en-US" sz="1000" dirty="0">
                <a:solidFill>
                  <a:srgbClr val="000000"/>
                </a:solidFill>
                <a:latin typeface="Arial" panose="020B0604020202020204" pitchFamily="34" charset="0"/>
                <a:cs typeface="Arial" panose="020B0604020202020204" pitchFamily="34" charset="0"/>
              </a:rPr>
              <a:t>Tableau		</a:t>
            </a:r>
            <a:r>
              <a:rPr lang="en-US" sz="1000" b="0" i="0" u="none" strike="noStrike" baseline="0" dirty="0">
                <a:solidFill>
                  <a:srgbClr val="A200FF"/>
                </a:solidFill>
                <a:latin typeface="Arial" panose="020B0604020202020204" pitchFamily="34" charset="0"/>
                <a:cs typeface="Arial" panose="020B0604020202020204" pitchFamily="34" charset="0"/>
              </a:rPr>
              <a:t>• </a:t>
            </a:r>
            <a:r>
              <a:rPr lang="en-US" sz="1000" b="0" i="0" u="none" strike="noStrike" baseline="0" dirty="0">
                <a:solidFill>
                  <a:srgbClr val="000000"/>
                </a:solidFill>
                <a:latin typeface="Arial" panose="020B0604020202020204" pitchFamily="34" charset="0"/>
                <a:cs typeface="Arial" panose="020B0604020202020204" pitchFamily="34" charset="0"/>
              </a:rPr>
              <a:t>Agile Team Practices	</a:t>
            </a:r>
            <a:r>
              <a:rPr lang="en-US" sz="1000" b="0" i="0" u="none" strike="noStrike" baseline="0" dirty="0">
                <a:solidFill>
                  <a:srgbClr val="A200FF"/>
                </a:solidFill>
                <a:latin typeface="Arial" panose="020B0604020202020204" pitchFamily="34" charset="0"/>
                <a:cs typeface="Arial" panose="020B0604020202020204" pitchFamily="34" charset="0"/>
              </a:rPr>
              <a:t>• </a:t>
            </a:r>
            <a:r>
              <a:rPr lang="en-US" sz="1000" b="0" i="0" u="none" strike="noStrike" baseline="0" dirty="0">
                <a:solidFill>
                  <a:srgbClr val="000000"/>
                </a:solidFill>
                <a:latin typeface="Arial" panose="020B0604020202020204" pitchFamily="34" charset="0"/>
                <a:cs typeface="Arial" panose="020B0604020202020204" pitchFamily="34" charset="0"/>
              </a:rPr>
              <a:t>Technical Writing</a:t>
            </a:r>
            <a:endParaRPr lang="en-US" sz="1000" dirty="0">
              <a:solidFill>
                <a:srgbClr val="000000"/>
              </a:solidFill>
              <a:latin typeface="Arial" panose="020B0604020202020204" pitchFamily="34" charset="0"/>
              <a:cs typeface="Arial" panose="020B0604020202020204" pitchFamily="34" charset="0"/>
            </a:endParaRPr>
          </a:p>
          <a:p>
            <a:r>
              <a:rPr lang="en-US" sz="1000" b="0" i="0" u="none" strike="noStrike" baseline="0" dirty="0">
                <a:solidFill>
                  <a:srgbClr val="A200FF"/>
                </a:solidFill>
                <a:latin typeface="Arial" panose="020B0604020202020204" pitchFamily="34" charset="0"/>
                <a:cs typeface="Arial" panose="020B0604020202020204" pitchFamily="34" charset="0"/>
              </a:rPr>
              <a:t>• </a:t>
            </a:r>
            <a:r>
              <a:rPr lang="en-US" sz="1000" dirty="0">
                <a:solidFill>
                  <a:srgbClr val="000000"/>
                </a:solidFill>
                <a:latin typeface="Arial" panose="020B0604020202020204" pitchFamily="34" charset="0"/>
                <a:cs typeface="Arial" panose="020B0604020202020204" pitchFamily="34" charset="0"/>
              </a:rPr>
              <a:t>Salesforce CRM Analytics	</a:t>
            </a:r>
            <a:r>
              <a:rPr lang="en-US" sz="1000" b="0" i="0" u="none" strike="noStrike" baseline="0" dirty="0">
                <a:solidFill>
                  <a:srgbClr val="A200FF"/>
                </a:solidFill>
                <a:latin typeface="Arial" panose="020B0604020202020204" pitchFamily="34" charset="0"/>
                <a:cs typeface="Arial" panose="020B0604020202020204" pitchFamily="34" charset="0"/>
              </a:rPr>
              <a:t>• </a:t>
            </a:r>
            <a:r>
              <a:rPr lang="en-US" sz="1000" b="0" i="0" u="none" strike="noStrike" baseline="0" dirty="0">
                <a:solidFill>
                  <a:srgbClr val="000000"/>
                </a:solidFill>
                <a:latin typeface="Arial" panose="020B0604020202020204" pitchFamily="34" charset="0"/>
                <a:cs typeface="Arial" panose="020B0604020202020204" pitchFamily="34" charset="0"/>
              </a:rPr>
              <a:t>Python &amp; R		</a:t>
            </a:r>
            <a:r>
              <a:rPr lang="en-US" sz="1000" b="0" i="0" u="none" strike="noStrike" baseline="0" dirty="0">
                <a:solidFill>
                  <a:srgbClr val="A200FF"/>
                </a:solidFill>
                <a:latin typeface="Arial" panose="020B0604020202020204" pitchFamily="34" charset="0"/>
                <a:cs typeface="Arial" panose="020B0604020202020204" pitchFamily="34" charset="0"/>
              </a:rPr>
              <a:t>• </a:t>
            </a:r>
            <a:r>
              <a:rPr lang="en-US" sz="1000" b="0" i="0" u="none" strike="noStrike" baseline="0" dirty="0">
                <a:solidFill>
                  <a:srgbClr val="000000"/>
                </a:solidFill>
                <a:latin typeface="Arial" panose="020B0604020202020204" pitchFamily="34" charset="0"/>
                <a:cs typeface="Arial" panose="020B0604020202020204" pitchFamily="34" charset="0"/>
              </a:rPr>
              <a:t>Databricks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baseline="0" dirty="0">
                <a:solidFill>
                  <a:srgbClr val="A200FF"/>
                </a:solidFill>
                <a:latin typeface="Arial" panose="020B0604020202020204" pitchFamily="34" charset="0"/>
                <a:cs typeface="Arial" panose="020B0604020202020204" pitchFamily="34" charset="0"/>
              </a:rPr>
              <a:t>• </a:t>
            </a:r>
            <a:r>
              <a:rPr lang="en-US" sz="1000" b="0" i="0" u="none" strike="noStrike" baseline="0" dirty="0">
                <a:solidFill>
                  <a:srgbClr val="000000"/>
                </a:solidFill>
                <a:latin typeface="Arial" panose="020B0604020202020204" pitchFamily="34" charset="0"/>
                <a:cs typeface="Arial" panose="020B0604020202020204" pitchFamily="34" charset="0"/>
              </a:rPr>
              <a:t>Salesforce Einstein Discovery	</a:t>
            </a:r>
            <a:r>
              <a:rPr lang="en-US" sz="1000" b="0" i="0" u="none" strike="noStrike" baseline="0" dirty="0">
                <a:solidFill>
                  <a:srgbClr val="A200FF"/>
                </a:solidFill>
                <a:latin typeface="Arial" panose="020B0604020202020204" pitchFamily="34" charset="0"/>
                <a:cs typeface="Arial" panose="020B0604020202020204" pitchFamily="34" charset="0"/>
              </a:rPr>
              <a:t>• </a:t>
            </a:r>
            <a:r>
              <a:rPr lang="en-US" sz="1000" b="0" i="0" u="none" strike="noStrike" baseline="0" dirty="0">
                <a:solidFill>
                  <a:srgbClr val="000000"/>
                </a:solidFill>
                <a:latin typeface="Arial" panose="020B0604020202020204" pitchFamily="34" charset="0"/>
                <a:cs typeface="Arial" panose="020B0604020202020204" pitchFamily="34" charset="0"/>
              </a:rPr>
              <a:t>Power Query		</a:t>
            </a:r>
            <a:r>
              <a:rPr kumimoji="0" lang="en-US" sz="1000" b="0" i="0" u="none" strike="noStrike" kern="1200" cap="none" spc="0" normalizeH="0" baseline="0" noProof="0" dirty="0">
                <a:ln>
                  <a:noFill/>
                </a:ln>
                <a:solidFill>
                  <a:srgbClr val="A200FF"/>
                </a:solidFill>
                <a:effectLst/>
                <a:uLnTx/>
                <a:uFillTx/>
                <a:latin typeface="Arial" panose="020B0604020202020204" pitchFamily="34" charset="0"/>
                <a:ea typeface="+mn-ea"/>
                <a:cs typeface="Arial" panose="020B0604020202020204" pitchFamily="34" charset="0"/>
              </a:rPr>
              <a:t>• </a:t>
            </a:r>
            <a:r>
              <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MATLAB</a:t>
            </a: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endParaRPr lang="en-US" sz="700" dirty="0">
              <a:solidFill>
                <a:srgbClr val="000000"/>
              </a:solidFill>
              <a:latin typeface="Arial" panose="020B0604020202020204" pitchFamily="34" charset="0"/>
              <a:cs typeface="Arial" panose="020B0604020202020204" pitchFamily="34" charset="0"/>
            </a:endParaRPr>
          </a:p>
          <a:p>
            <a:endParaRPr lang="en-US" sz="300" b="0" i="0" u="none" strike="noStrike" baseline="0" dirty="0">
              <a:solidFill>
                <a:srgbClr val="000000"/>
              </a:solidFill>
              <a:latin typeface="Arial" panose="020B0604020202020204" pitchFamily="34" charset="0"/>
              <a:cs typeface="Arial" panose="020B0604020202020204" pitchFamily="34" charset="0"/>
            </a:endParaRPr>
          </a:p>
          <a:p>
            <a:r>
              <a:rPr lang="en-US" sz="1100" b="1" i="0" u="none" strike="noStrike" baseline="0" dirty="0">
                <a:solidFill>
                  <a:srgbClr val="42422F"/>
                </a:solidFill>
                <a:latin typeface="Arial" panose="020B0604020202020204" pitchFamily="34" charset="0"/>
                <a:cs typeface="Arial" panose="020B0604020202020204" pitchFamily="34" charset="0"/>
              </a:rPr>
              <a:t>Industries: </a:t>
            </a:r>
            <a:r>
              <a:rPr lang="en-US" sz="1100" dirty="0">
                <a:solidFill>
                  <a:srgbClr val="000000"/>
                </a:solidFill>
                <a:latin typeface="Arial" panose="020B0604020202020204" pitchFamily="34" charset="0"/>
                <a:cs typeface="Arial" panose="020B0604020202020204" pitchFamily="34" charset="0"/>
              </a:rPr>
              <a:t>Defense, Energy, Health</a:t>
            </a:r>
            <a:endParaRPr lang="en-US" sz="1100" b="0" i="0" u="none" strike="noStrike" baseline="0" dirty="0">
              <a:solidFill>
                <a:srgbClr val="000000"/>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C4CBA176-1450-495C-987D-855AA9A2B8B1}"/>
              </a:ext>
            </a:extLst>
          </p:cNvPr>
          <p:cNvSpPr txBox="1"/>
          <p:nvPr/>
        </p:nvSpPr>
        <p:spPr>
          <a:xfrm>
            <a:off x="1886253" y="982032"/>
            <a:ext cx="6762572" cy="800219"/>
          </a:xfrm>
          <a:prstGeom prst="rect">
            <a:avLst/>
          </a:prstGeom>
          <a:noFill/>
        </p:spPr>
        <p:txBody>
          <a:bodyPr wrap="square" lIns="91440" tIns="45720" rIns="91440" bIns="45720" anchor="t">
            <a:spAutoFit/>
          </a:bodyPr>
          <a:lstStyle/>
          <a:p>
            <a:endParaRPr lang="en-US" sz="1600" b="1" i="0" u="none" strike="noStrike" baseline="0" dirty="0">
              <a:solidFill>
                <a:srgbClr val="60009B"/>
              </a:solidFill>
              <a:latin typeface="Arial" panose="020B0604020202020204" pitchFamily="34" charset="0"/>
              <a:cs typeface="Arial" panose="020B0604020202020204" pitchFamily="34" charset="0"/>
            </a:endParaRPr>
          </a:p>
          <a:p>
            <a:r>
              <a:rPr lang="en-US" sz="1000" dirty="0">
                <a:solidFill>
                  <a:srgbClr val="000000"/>
                </a:solidFill>
                <a:latin typeface="Arial"/>
                <a:cs typeface="Arial"/>
              </a:rPr>
              <a:t>chloe</a:t>
            </a:r>
            <a:r>
              <a:rPr lang="en-US" sz="1000" i="0" u="none" strike="noStrike" baseline="0" dirty="0">
                <a:solidFill>
                  <a:srgbClr val="000000"/>
                </a:solidFill>
                <a:latin typeface="Arial"/>
                <a:cs typeface="Arial"/>
              </a:rPr>
              <a:t>.tenembaum@afs.com</a:t>
            </a:r>
          </a:p>
          <a:p>
            <a:r>
              <a:rPr lang="en-US" sz="1000" dirty="0">
                <a:solidFill>
                  <a:srgbClr val="000000"/>
                </a:solidFill>
                <a:latin typeface="Arial"/>
                <a:cs typeface="Arial"/>
              </a:rPr>
              <a:t>linkedin.com/in/</a:t>
            </a:r>
            <a:r>
              <a:rPr lang="en-US" sz="1000" dirty="0" err="1">
                <a:solidFill>
                  <a:srgbClr val="000000"/>
                </a:solidFill>
                <a:latin typeface="Arial"/>
                <a:cs typeface="Arial"/>
              </a:rPr>
              <a:t>chloe-tenembaum</a:t>
            </a:r>
            <a:endParaRPr lang="en-US" sz="1000" dirty="0">
              <a:solidFill>
                <a:srgbClr val="000000"/>
              </a:solidFill>
              <a:latin typeface="Arial"/>
              <a:cs typeface="Arial"/>
            </a:endParaRPr>
          </a:p>
          <a:p>
            <a:r>
              <a:rPr lang="en-US" sz="1000" dirty="0">
                <a:solidFill>
                  <a:srgbClr val="000000"/>
                </a:solidFill>
                <a:latin typeface="Arial"/>
                <a:cs typeface="Arial"/>
              </a:rPr>
              <a:t>Office Location: Arlington, VA</a:t>
            </a:r>
          </a:p>
        </p:txBody>
      </p:sp>
      <p:cxnSp>
        <p:nvCxnSpPr>
          <p:cNvPr id="23" name="Straight Connector 22">
            <a:extLst>
              <a:ext uri="{FF2B5EF4-FFF2-40B4-BE49-F238E27FC236}">
                <a16:creationId xmlns:a16="http://schemas.microsoft.com/office/drawing/2014/main" id="{87B6AAE4-D91B-368F-D218-F0ADF7DBEC58}"/>
              </a:ext>
            </a:extLst>
          </p:cNvPr>
          <p:cNvCxnSpPr>
            <a:cxnSpLocks/>
          </p:cNvCxnSpPr>
          <p:nvPr/>
        </p:nvCxnSpPr>
        <p:spPr>
          <a:xfrm>
            <a:off x="5864539" y="501037"/>
            <a:ext cx="0" cy="5855926"/>
          </a:xfrm>
          <a:prstGeom prst="line">
            <a:avLst/>
          </a:prstGeom>
          <a:ln w="9525">
            <a:solidFill>
              <a:schemeClr val="tx2">
                <a:alpha val="87000"/>
              </a:schemeClr>
            </a:solidFill>
            <a:prstDash val="sysDash"/>
            <a:miter lim="800000"/>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5D1ED1A-59EA-3D7E-218E-5A0CC387D145}"/>
              </a:ext>
            </a:extLst>
          </p:cNvPr>
          <p:cNvSpPr txBox="1"/>
          <p:nvPr/>
        </p:nvSpPr>
        <p:spPr>
          <a:xfrm>
            <a:off x="6327463" y="400852"/>
            <a:ext cx="5212856" cy="6494085"/>
          </a:xfrm>
          <a:prstGeom prst="rect">
            <a:avLst/>
          </a:prstGeom>
          <a:noFill/>
        </p:spPr>
        <p:txBody>
          <a:bodyPr wrap="square" lIns="91440" tIns="45720" rIns="91440" bIns="45720" anchor="t">
            <a:spAutoFit/>
          </a:bodyPr>
          <a:lstStyle/>
          <a:p>
            <a:pPr>
              <a:lnSpc>
                <a:spcPts val="1920"/>
              </a:lnSpc>
            </a:pPr>
            <a:r>
              <a:rPr lang="en-US" sz="1600" b="1" i="0" u="none" strike="noStrike" baseline="0" dirty="0">
                <a:solidFill>
                  <a:srgbClr val="8913FB"/>
                </a:solidFill>
                <a:latin typeface="Arial" panose="020B0604020202020204" pitchFamily="34" charset="0"/>
                <a:cs typeface="Arial" panose="020B0604020202020204" pitchFamily="34" charset="0"/>
              </a:rPr>
              <a:t>AFS PROJECT EXPERIENCE</a:t>
            </a:r>
            <a:endParaRPr lang="en-US" sz="1100" b="1" i="0" u="none" strike="noStrike" baseline="0" dirty="0">
              <a:solidFill>
                <a:srgbClr val="8913FB"/>
              </a:solidFill>
              <a:latin typeface="Arial" panose="020B0604020202020204" pitchFamily="34" charset="0"/>
              <a:cs typeface="Arial" panose="020B0604020202020204" pitchFamily="34" charset="0"/>
            </a:endParaRPr>
          </a:p>
          <a:p>
            <a:pPr>
              <a:lnSpc>
                <a:spcPts val="1920"/>
              </a:lnSpc>
            </a:pPr>
            <a:r>
              <a:rPr lang="en-US" sz="1200" b="1" i="0" u="none" strike="noStrike" baseline="0" dirty="0">
                <a:latin typeface="Arial"/>
                <a:cs typeface="Arial"/>
              </a:rPr>
              <a:t>Data and BI Analyst </a:t>
            </a:r>
            <a:r>
              <a:rPr lang="en-US" sz="1200" i="0" u="none" strike="noStrike" baseline="0" dirty="0">
                <a:latin typeface="Arial"/>
                <a:cs typeface="Arial"/>
              </a:rPr>
              <a:t>U</a:t>
            </a:r>
            <a:r>
              <a:rPr lang="en-US" sz="1200" b="0" i="0" u="none" strike="noStrike" baseline="0" dirty="0">
                <a:latin typeface="Arial"/>
                <a:cs typeface="Arial"/>
              </a:rPr>
              <a:t>.S. Department of Energy -</a:t>
            </a:r>
            <a:r>
              <a:rPr lang="en-US" sz="1200" dirty="0">
                <a:latin typeface="Arial"/>
                <a:cs typeface="Arial"/>
              </a:rPr>
              <a:t> April 2024-Present</a:t>
            </a:r>
            <a:endParaRPr lang="en-US" sz="1200" b="0" i="0" u="none" strike="noStrike" baseline="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100" dirty="0">
                <a:effectLst/>
                <a:latin typeface="Arial"/>
                <a:ea typeface="Times New Roman" panose="02020603050405020304" pitchFamily="18" charset="0"/>
                <a:cs typeface="Arial"/>
              </a:rPr>
              <a:t>Developed a Power BI Spending Plan Dashboard, providing DOE senior leadership with immediate access to budget insights</a:t>
            </a:r>
            <a:r>
              <a:rPr lang="en-US" sz="1100" dirty="0">
                <a:latin typeface="Arial"/>
                <a:ea typeface="Times New Roman" panose="02020603050405020304" pitchFamily="18" charset="0"/>
                <a:cs typeface="Arial"/>
              </a:rPr>
              <a:t>.</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171450" indent="-171450">
              <a:buFont typeface="Arial" panose="020B0604020202020204" pitchFamily="34" charset="0"/>
              <a:buChar char="•"/>
            </a:pPr>
            <a:r>
              <a:rPr lang="en-US" sz="1100" dirty="0">
                <a:effectLst/>
                <a:latin typeface="Arial"/>
                <a:ea typeface="Times New Roman" panose="02020603050405020304" pitchFamily="18" charset="0"/>
                <a:cs typeface="Arial"/>
              </a:rPr>
              <a:t>Completed O&amp;M tickets for Cognos and Power BI reports</a:t>
            </a:r>
            <a:r>
              <a:rPr lang="en-US" sz="1100" dirty="0">
                <a:latin typeface="Arial"/>
                <a:ea typeface="Times New Roman" panose="02020603050405020304" pitchFamily="18" charset="0"/>
                <a:cs typeface="Arial"/>
              </a:rPr>
              <a:t>.</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171450" marR="0" indent="-171450">
              <a:spcBef>
                <a:spcPts val="0"/>
              </a:spcBef>
              <a:spcAft>
                <a:spcPts val="0"/>
              </a:spcAft>
              <a:buFont typeface="Arial" panose="020B0604020202020204" pitchFamily="34" charset="0"/>
              <a:buChar char="•"/>
            </a:pPr>
            <a:r>
              <a:rPr lang="en-US" sz="1100" dirty="0">
                <a:effectLst/>
                <a:latin typeface="Arial"/>
                <a:ea typeface="Times New Roman" panose="02020603050405020304" pitchFamily="18" charset="0"/>
                <a:cs typeface="Arial"/>
              </a:rPr>
              <a:t>Conducted smoke tests of SQL servers to ensure availability for federal contractors and senior leadership</a:t>
            </a:r>
            <a:r>
              <a:rPr lang="en-US" sz="1100" dirty="0">
                <a:latin typeface="Arial"/>
                <a:ea typeface="Times New Roman" panose="02020603050405020304" pitchFamily="18" charset="0"/>
                <a:cs typeface="Arial"/>
              </a:rPr>
              <a:t>.</a:t>
            </a:r>
          </a:p>
          <a:p>
            <a:pPr marL="171450" marR="0" indent="-171450">
              <a:spcBef>
                <a:spcPts val="0"/>
              </a:spcBef>
              <a:spcAft>
                <a:spcPts val="0"/>
              </a:spcAft>
              <a:buFont typeface="Arial" panose="020B0604020202020204" pitchFamily="34" charset="0"/>
              <a:buChar char="•"/>
            </a:pPr>
            <a:r>
              <a:rPr lang="en-US" sz="1100" dirty="0">
                <a:effectLst/>
                <a:latin typeface="Arial" panose="020B0604020202020204" pitchFamily="34" charset="0"/>
                <a:ea typeface="Times New Roman" panose="02020603050405020304" pitchFamily="18" charset="0"/>
                <a:cs typeface="Arial" panose="020B0604020202020204" pitchFamily="34" charset="0"/>
              </a:rPr>
              <a:t>Aided in Power BI migration from report </a:t>
            </a:r>
            <a:r>
              <a:rPr lang="en-US" sz="1100" dirty="0">
                <a:latin typeface="Arial" panose="020B0604020202020204" pitchFamily="34" charset="0"/>
                <a:ea typeface="Times New Roman" panose="02020603050405020304" pitchFamily="18" charset="0"/>
                <a:cs typeface="Arial" panose="020B0604020202020204" pitchFamily="34" charset="0"/>
              </a:rPr>
              <a:t>s</a:t>
            </a:r>
            <a:r>
              <a:rPr lang="en-US" sz="1100" dirty="0">
                <a:effectLst/>
                <a:latin typeface="Arial" panose="020B0604020202020204" pitchFamily="34" charset="0"/>
                <a:ea typeface="Times New Roman" panose="02020603050405020304" pitchFamily="18" charset="0"/>
                <a:cs typeface="Arial" panose="020B0604020202020204" pitchFamily="34" charset="0"/>
              </a:rPr>
              <a:t>erver to cloud </a:t>
            </a:r>
          </a:p>
          <a:p>
            <a:pPr marL="171450" marR="0" indent="-171450">
              <a:spcBef>
                <a:spcPts val="0"/>
              </a:spcBef>
              <a:spcAft>
                <a:spcPts val="0"/>
              </a:spcAft>
              <a:buFont typeface="Arial" panose="020B0604020202020204" pitchFamily="34" charset="0"/>
              <a:buChar char="•"/>
            </a:pPr>
            <a:r>
              <a:rPr lang="en-US" sz="1100" dirty="0">
                <a:effectLst/>
                <a:latin typeface="Arial" panose="020B0604020202020204" pitchFamily="34" charset="0"/>
                <a:ea typeface="Times New Roman" panose="02020603050405020304" pitchFamily="18" charset="0"/>
                <a:cs typeface="Arial" panose="020B0604020202020204" pitchFamily="34" charset="0"/>
              </a:rPr>
              <a:t>Became the POC for Power BI migration </a:t>
            </a:r>
            <a:r>
              <a:rPr lang="en-US" sz="1100" dirty="0">
                <a:latin typeface="Arial" panose="020B0604020202020204" pitchFamily="34" charset="0"/>
                <a:ea typeface="Times New Roman" panose="02020603050405020304" pitchFamily="18" charset="0"/>
                <a:cs typeface="Arial" panose="020B0604020202020204" pitchFamily="34" charset="0"/>
              </a:rPr>
              <a:t>de</a:t>
            </a:r>
            <a:r>
              <a:rPr lang="en-US" sz="1100" dirty="0">
                <a:effectLst/>
                <a:latin typeface="Arial" panose="020B0604020202020204" pitchFamily="34" charset="0"/>
                <a:ea typeface="Times New Roman" panose="02020603050405020304" pitchFamily="18" charset="0"/>
                <a:cs typeface="Arial" panose="020B0604020202020204" pitchFamily="34" charset="0"/>
              </a:rPr>
              <a:t>ployments and Power BI permission changes</a:t>
            </a:r>
          </a:p>
          <a:p>
            <a:pPr marL="171450" marR="0" indent="-171450">
              <a:spcBef>
                <a:spcPts val="0"/>
              </a:spcBef>
              <a:spcAft>
                <a:spcPts val="0"/>
              </a:spcAft>
              <a:buFont typeface="Arial" panose="020B0604020202020204" pitchFamily="34" charset="0"/>
              <a:buChar char="•"/>
            </a:pPr>
            <a:r>
              <a:rPr lang="en-US" sz="1100" dirty="0">
                <a:latin typeface="Arial" panose="020B0604020202020204" pitchFamily="34" charset="0"/>
                <a:ea typeface="Times New Roman" panose="02020603050405020304" pitchFamily="18" charset="0"/>
                <a:cs typeface="Arial" panose="020B0604020202020204" pitchFamily="34" charset="0"/>
              </a:rPr>
              <a:t>Performed ETL on data pulls to share with BO’s and PO’s</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171450" marR="0" indent="-171450">
              <a:spcBef>
                <a:spcPts val="0"/>
              </a:spcBef>
              <a:spcAft>
                <a:spcPts val="0"/>
              </a:spcAft>
              <a:buFont typeface="Arial" panose="020B0604020202020204" pitchFamily="34" charset="0"/>
              <a:buChar char="•"/>
            </a:pPr>
            <a:r>
              <a:rPr lang="en-US" sz="1100" dirty="0">
                <a:latin typeface="Arial" panose="020B0604020202020204" pitchFamily="34" charset="0"/>
                <a:ea typeface="Times New Roman" panose="02020603050405020304" pitchFamily="18" charset="0"/>
                <a:cs typeface="Arial" panose="020B0604020202020204" pitchFamily="34" charset="0"/>
              </a:rPr>
              <a:t>Created knowledge transfer documents to educate other team members of the methodology of the work completed</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R="0">
              <a:lnSpc>
                <a:spcPts val="1920"/>
              </a:lnSpc>
              <a:spcBef>
                <a:spcPts val="0"/>
              </a:spcBef>
              <a:spcAft>
                <a:spcPts val="0"/>
              </a:spcAft>
            </a:pPr>
            <a:endParaRPr lang="en-US" sz="1100" b="1" dirty="0">
              <a:latin typeface="Arial" panose="020B0604020202020204" pitchFamily="34" charset="0"/>
              <a:cs typeface="Arial" panose="020B0604020202020204" pitchFamily="34" charset="0"/>
            </a:endParaRPr>
          </a:p>
          <a:p>
            <a:pPr>
              <a:lnSpc>
                <a:spcPts val="1920"/>
              </a:lnSpc>
            </a:pPr>
            <a:r>
              <a:rPr lang="en-US" sz="1200" b="1" i="0" u="none" strike="noStrike" baseline="0" dirty="0">
                <a:latin typeface="Arial"/>
                <a:cs typeface="Arial"/>
              </a:rPr>
              <a:t>Business Analyst </a:t>
            </a:r>
            <a:r>
              <a:rPr lang="en-US" sz="1200" i="0" u="none" strike="noStrike" baseline="0" dirty="0">
                <a:latin typeface="Arial"/>
                <a:cs typeface="Arial"/>
              </a:rPr>
              <a:t>U</a:t>
            </a:r>
            <a:r>
              <a:rPr lang="en-US" sz="1200" b="0" i="0" u="none" strike="noStrike" baseline="0" dirty="0">
                <a:latin typeface="Arial"/>
                <a:cs typeface="Arial"/>
              </a:rPr>
              <a:t>.S. Department of Defense</a:t>
            </a:r>
            <a:r>
              <a:rPr lang="en-US" sz="1200" dirty="0">
                <a:latin typeface="Arial"/>
                <a:cs typeface="Arial"/>
              </a:rPr>
              <a:t> - July 2023-January 2024</a:t>
            </a:r>
            <a:endParaRPr lang="en-US" sz="1200" b="0" i="0" u="none" strike="noStrike" baseline="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100" dirty="0">
                <a:effectLst/>
                <a:latin typeface="Arial"/>
                <a:ea typeface="Times New Roman" panose="02020603050405020304" pitchFamily="18" charset="0"/>
                <a:cs typeface="Arial"/>
              </a:rPr>
              <a:t>Helped with Business Development </a:t>
            </a:r>
            <a:r>
              <a:rPr lang="en-US" sz="1100" dirty="0">
                <a:latin typeface="Arial"/>
                <a:ea typeface="Times New Roman" panose="02020603050405020304" pitchFamily="18" charset="0"/>
                <a:cs typeface="Arial"/>
              </a:rPr>
              <a:t>of AI</a:t>
            </a:r>
            <a:r>
              <a:rPr lang="en-US" sz="1100" dirty="0">
                <a:effectLst/>
                <a:latin typeface="Arial"/>
                <a:ea typeface="Times New Roman" panose="02020603050405020304" pitchFamily="18" charset="0"/>
                <a:cs typeface="Arial"/>
              </a:rPr>
              <a:t> service that sold </a:t>
            </a:r>
            <a:r>
              <a:rPr lang="en-US" sz="1100" b="1" dirty="0">
                <a:effectLst/>
                <a:latin typeface="Arial"/>
                <a:ea typeface="Times New Roman" panose="02020603050405020304" pitchFamily="18" charset="0"/>
                <a:cs typeface="Arial"/>
              </a:rPr>
              <a:t>$1M</a:t>
            </a:r>
            <a:r>
              <a:rPr lang="en-US" sz="1100" dirty="0">
                <a:effectLst/>
                <a:latin typeface="Arial"/>
                <a:ea typeface="Times New Roman" panose="02020603050405020304" pitchFamily="18" charset="0"/>
                <a:cs typeface="Arial"/>
              </a:rPr>
              <a:t> in AI work. </a:t>
            </a:r>
            <a:endParaRPr lang="en-US" sz="1100" dirty="0">
              <a:latin typeface="Arial"/>
              <a:ea typeface="Times New Roman" panose="02020603050405020304" pitchFamily="18" charset="0"/>
              <a:cs typeface="Arial"/>
            </a:endParaRPr>
          </a:p>
          <a:p>
            <a:pPr marL="171450" indent="-171450">
              <a:buFont typeface="Arial"/>
              <a:buChar char="•"/>
            </a:pPr>
            <a:r>
              <a:rPr lang="en-US" sz="1100" dirty="0">
                <a:effectLst/>
                <a:latin typeface="Arial"/>
                <a:ea typeface="Times New Roman" panose="02020603050405020304" pitchFamily="18" charset="0"/>
                <a:cs typeface="Arial"/>
              </a:rPr>
              <a:t>Created a presentation and one-pager </a:t>
            </a:r>
            <a:r>
              <a:rPr lang="en-US" sz="1100" dirty="0">
                <a:latin typeface="Arial"/>
                <a:ea typeface="Times New Roman" panose="02020603050405020304" pitchFamily="18" charset="0"/>
                <a:cs typeface="Arial"/>
              </a:rPr>
              <a:t>of AI tool that</a:t>
            </a:r>
            <a:r>
              <a:rPr lang="en-US" sz="1100" dirty="0">
                <a:effectLst/>
                <a:latin typeface="Arial"/>
                <a:ea typeface="Times New Roman" panose="02020603050405020304" pitchFamily="18" charset="0"/>
                <a:cs typeface="Arial"/>
              </a:rPr>
              <a:t> were presented to </a:t>
            </a:r>
            <a:r>
              <a:rPr lang="en-US" sz="1100" b="1" dirty="0">
                <a:effectLst/>
                <a:latin typeface="Arial"/>
                <a:ea typeface="Times New Roman" panose="02020603050405020304" pitchFamily="18" charset="0"/>
                <a:cs typeface="Arial"/>
              </a:rPr>
              <a:t>~50 </a:t>
            </a:r>
            <a:r>
              <a:rPr lang="en-US" sz="1100" dirty="0">
                <a:effectLst/>
                <a:latin typeface="Arial"/>
                <a:ea typeface="Times New Roman" panose="02020603050405020304" pitchFamily="18" charset="0"/>
                <a:cs typeface="Arial"/>
              </a:rPr>
              <a:t>clients and contractors at the CECOM LMP Innovation Day Conference. </a:t>
            </a:r>
            <a:endParaRPr lang="en-US" sz="1100" dirty="0">
              <a:latin typeface="Arial"/>
              <a:ea typeface="Times New Roman" panose="02020603050405020304" pitchFamily="18" charset="0"/>
              <a:cs typeface="Arial"/>
            </a:endParaRPr>
          </a:p>
          <a:p>
            <a:pPr marL="171450" indent="-171450">
              <a:buFont typeface="Arial" panose="020B0604020202020204" pitchFamily="34" charset="0"/>
              <a:buChar char="•"/>
            </a:pPr>
            <a:r>
              <a:rPr lang="en-US" sz="1100" dirty="0">
                <a:effectLst/>
                <a:latin typeface="Arial"/>
                <a:ea typeface="Times New Roman" panose="02020603050405020304" pitchFamily="18" charset="0"/>
                <a:cs typeface="Arial"/>
              </a:rPr>
              <a:t>Supported new and existing deployments of Task Management Tool (TMT</a:t>
            </a:r>
            <a:r>
              <a:rPr lang="en-US" sz="1100" dirty="0">
                <a:latin typeface="Arial"/>
                <a:ea typeface="Times New Roman" panose="02020603050405020304" pitchFamily="18" charset="0"/>
                <a:cs typeface="Arial"/>
              </a:rPr>
              <a:t>).</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a:lnSpc>
                <a:spcPts val="1920"/>
              </a:lnSpc>
            </a:pPr>
            <a:endParaRPr lang="en-US" sz="1050" dirty="0">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8913FB"/>
                </a:solidFill>
                <a:effectLst/>
                <a:uLnTx/>
                <a:uFillTx/>
                <a:latin typeface="Arial" panose="020B0604020202020204" pitchFamily="34" charset="0"/>
                <a:ea typeface="+mn-ea"/>
                <a:cs typeface="Arial" panose="020B0604020202020204" pitchFamily="34" charset="0"/>
              </a:rPr>
              <a:t>EXTERNAL PROJECT EXPERIENCE</a:t>
            </a:r>
            <a:endParaRPr lang="en-US" sz="1600" b="1" dirty="0">
              <a:solidFill>
                <a:srgbClr val="8913FB"/>
              </a:solidFill>
              <a:latin typeface="Arial" panose="020B0604020202020204" pitchFamily="34" charset="0"/>
              <a:cs typeface="Arial" panose="020B0604020202020204" pitchFamily="34" charset="0"/>
            </a:endParaRPr>
          </a:p>
          <a:p>
            <a:pPr>
              <a:defRPr/>
            </a:pPr>
            <a:r>
              <a:rPr kumimoji="0" lang="en-US" sz="1200" b="1" i="0" u="none" strike="noStrike" kern="1200" cap="none" spc="0" normalizeH="0" baseline="0" noProof="0" dirty="0">
                <a:ln>
                  <a:noFill/>
                </a:ln>
                <a:solidFill>
                  <a:prstClr val="black"/>
                </a:solidFill>
                <a:effectLst/>
                <a:uLnTx/>
                <a:uFillTx/>
                <a:latin typeface="Arial"/>
                <a:cs typeface="Arial"/>
              </a:rPr>
              <a:t>Biomedical Engineering TA/Consultant </a:t>
            </a:r>
            <a:r>
              <a:rPr kumimoji="0" lang="en-US" sz="1200" b="0" i="0" u="none" strike="noStrike" kern="1200" cap="none" spc="0" normalizeH="0" baseline="0" noProof="0" dirty="0">
                <a:ln>
                  <a:noFill/>
                </a:ln>
                <a:solidFill>
                  <a:prstClr val="black"/>
                </a:solidFill>
                <a:effectLst/>
                <a:uLnTx/>
                <a:uFillTx/>
                <a:latin typeface="Arial"/>
                <a:cs typeface="Arial"/>
              </a:rPr>
              <a:t>Virginia Tech Department of Biomedical Engineering -</a:t>
            </a:r>
            <a:r>
              <a:rPr lang="en-US" sz="1200" dirty="0">
                <a:solidFill>
                  <a:prstClr val="black"/>
                </a:solidFill>
                <a:latin typeface="Arial"/>
                <a:cs typeface="Arial"/>
              </a:rPr>
              <a:t> January 2023-September 2023</a:t>
            </a:r>
            <a:endParaRPr lang="en-US" sz="1200" b="0" i="0" u="none" strike="noStrike" kern="1200" cap="none" spc="0" normalizeH="0" baseline="0" noProof="0" dirty="0">
              <a:ln>
                <a:noFill/>
              </a:ln>
              <a:solidFill>
                <a:prstClr val="black"/>
              </a:solidFill>
              <a:effectLst/>
              <a:uLnTx/>
              <a:uFillTx/>
              <a:latin typeface="Arial"/>
              <a:cs typeface="Arial"/>
            </a:endParaRP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rial"/>
                <a:ea typeface="Times New Roman" panose="02020603050405020304" pitchFamily="18" charset="0"/>
                <a:cs typeface="Arial"/>
              </a:rPr>
              <a:t>Co-led a clinical immersion course with Industrial Design and Biomedical Engineering students, addressing 15 user needs of rural VA hospital patients that were identified through interviews</a:t>
            </a:r>
            <a:r>
              <a:rPr lang="en-US" sz="1100" dirty="0">
                <a:solidFill>
                  <a:prstClr val="black"/>
                </a:solidFill>
                <a:latin typeface="Arial"/>
                <a:ea typeface="Times New Roman" panose="02020603050405020304" pitchFamily="18" charset="0"/>
                <a:cs typeface="Arial"/>
              </a:rPr>
              <a:t>.</a:t>
            </a:r>
            <a:endParaRPr lang="en-US" sz="1100" b="0"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rial"/>
                <a:ea typeface="Times New Roman" panose="02020603050405020304" pitchFamily="18" charset="0"/>
                <a:cs typeface="Arial"/>
              </a:rPr>
              <a:t>Develop medical UI solutions, resulting in two successful capstone projects aimed at alleviating identified patient pain points</a:t>
            </a:r>
            <a:r>
              <a:rPr lang="en-US" sz="1100" dirty="0">
                <a:solidFill>
                  <a:prstClr val="black"/>
                </a:solidFill>
                <a:latin typeface="Arial"/>
                <a:ea typeface="Times New Roman" panose="02020603050405020304" pitchFamily="18" charset="0"/>
                <a:cs typeface="Arial"/>
              </a:rPr>
              <a:t>.</a:t>
            </a:r>
            <a:endParaRPr lang="en-US" sz="1100" b="0"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171450" indent="-171450">
              <a:buFont typeface="Arial" panose="020B0604020202020204" pitchFamily="34" charset="0"/>
              <a:buChar char="•"/>
              <a:defRPr/>
            </a:pPr>
            <a:r>
              <a:rPr kumimoji="0" lang="en-US" sz="1100" b="0" i="0" u="none" strike="noStrike" kern="1200" cap="none" spc="0" normalizeH="0" baseline="0" noProof="0" dirty="0">
                <a:ln>
                  <a:noFill/>
                </a:ln>
                <a:solidFill>
                  <a:prstClr val="black"/>
                </a:solidFill>
                <a:effectLst/>
                <a:uLnTx/>
                <a:uFillTx/>
                <a:latin typeface="Arial"/>
                <a:ea typeface="Times New Roman" panose="02020603050405020304" pitchFamily="18" charset="0"/>
                <a:cs typeface="Arial"/>
              </a:rPr>
              <a:t>Co-authored a paper submitted to the Journal of Biomedical Engineering Education</a:t>
            </a:r>
            <a:r>
              <a:rPr lang="en-US" sz="1100" dirty="0">
                <a:solidFill>
                  <a:prstClr val="black"/>
                </a:solidFill>
                <a:latin typeface="Arial"/>
                <a:ea typeface="Times New Roman" panose="02020603050405020304" pitchFamily="18" charset="0"/>
                <a:cs typeface="Arial"/>
              </a:rPr>
              <a:t>.</a:t>
            </a:r>
            <a:endParaRPr lang="en-US" sz="1100" b="0"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auto" latinLnBrk="0" hangingPunct="1">
              <a:spcBef>
                <a:spcPts val="0"/>
              </a:spcBef>
              <a:spcAft>
                <a:spcPts val="0"/>
              </a:spcAft>
              <a:buClrTx/>
              <a:buSzTx/>
              <a:buFontTx/>
              <a:buNone/>
              <a:tabLst/>
              <a:defRPr/>
            </a:pPr>
            <a:endParaRPr kumimoji="0" lang="en-US" sz="1100" b="1" i="0" u="none" strike="noStrike" kern="1200" cap="none" spc="0" normalizeH="0" baseline="0" noProof="0" dirty="0">
              <a:ln>
                <a:noFill/>
              </a:ln>
              <a:solidFill>
                <a:srgbClr val="8913FB"/>
              </a:solidFill>
              <a:effectLst/>
              <a:uLnTx/>
              <a:uFillTx/>
              <a:latin typeface="Arial" panose="020B0604020202020204" pitchFamily="34" charset="0"/>
              <a:ea typeface="+mn-ea"/>
              <a:cs typeface="Arial" panose="020B0604020202020204" pitchFamily="34" charset="0"/>
            </a:endParaRPr>
          </a:p>
          <a:p>
            <a:pPr marL="171450" indent="-171450">
              <a:buFont typeface="Arial" panose="020B0604020202020204" pitchFamily="34" charset="0"/>
              <a:buChar char="•"/>
            </a:pPr>
            <a:endParaRPr lang="en-US" sz="1100" dirty="0">
              <a:effectLst/>
              <a:latin typeface="Arial" panose="020B0604020202020204" pitchFamily="34" charset="0"/>
              <a:ea typeface="Calibri" panose="020F0502020204030204" pitchFamily="34" charset="0"/>
              <a:cs typeface="Arial" panose="020B0604020202020204" pitchFamily="34" charset="0"/>
            </a:endParaRPr>
          </a:p>
          <a:p>
            <a:endParaRPr lang="en-US" sz="1100" b="0" i="0" u="none" strike="noStrike" baseline="0" dirty="0">
              <a:latin typeface="Arial" panose="020B0604020202020204" pitchFamily="34" charset="0"/>
              <a:cs typeface="Arial" panose="020B0604020202020204" pitchFamily="34" charset="0"/>
            </a:endParaRPr>
          </a:p>
          <a:p>
            <a:br>
              <a:rPr lang="en-US" sz="1100" dirty="0">
                <a:latin typeface="Arial" panose="020B0604020202020204" pitchFamily="34" charset="0"/>
                <a:cs typeface="Arial" panose="020B0604020202020204" pitchFamily="34" charset="0"/>
              </a:rPr>
            </a:br>
            <a:endParaRPr lang="en-US" sz="1100" b="1" dirty="0">
              <a:latin typeface="Arial" panose="020B0604020202020204" pitchFamily="34" charset="0"/>
              <a:cs typeface="Arial" panose="020B0604020202020204" pitchFamily="34" charset="0"/>
            </a:endParaRPr>
          </a:p>
        </p:txBody>
      </p:sp>
      <p:pic>
        <p:nvPicPr>
          <p:cNvPr id="30" name="Picture 29">
            <a:extLst>
              <a:ext uri="{FF2B5EF4-FFF2-40B4-BE49-F238E27FC236}">
                <a16:creationId xmlns:a16="http://schemas.microsoft.com/office/drawing/2014/main" id="{9C45A45A-B4A6-9F08-4348-3933AE89C32B}"/>
              </a:ext>
            </a:extLst>
          </p:cNvPr>
          <p:cNvPicPr>
            <a:picLocks noChangeAspect="1"/>
          </p:cNvPicPr>
          <p:nvPr/>
        </p:nvPicPr>
        <p:blipFill>
          <a:blip r:embed="rId4"/>
          <a:stretch>
            <a:fillRect/>
          </a:stretch>
        </p:blipFill>
        <p:spPr>
          <a:xfrm>
            <a:off x="11510065" y="136029"/>
            <a:ext cx="521514" cy="532248"/>
          </a:xfrm>
          <a:prstGeom prst="rect">
            <a:avLst/>
          </a:prstGeom>
        </p:spPr>
      </p:pic>
    </p:spTree>
    <p:extLst>
      <p:ext uri="{BB962C8B-B14F-4D97-AF65-F5344CB8AC3E}">
        <p14:creationId xmlns:p14="http://schemas.microsoft.com/office/powerpoint/2010/main" val="35448490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d0fd009-4352-4d38-9ebc-1204f711e843" xsi:nil="true"/>
    <lcf76f155ced4ddcb4097134ff3c332f xmlns="f632baae-d976-4f23-8cd9-f246407faabe">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717F7C3824B0B46A5C5887738C8780D" ma:contentTypeVersion="12" ma:contentTypeDescription="Create a new document." ma:contentTypeScope="" ma:versionID="1d1bf05ac10278a68c0f431b5bd2c792">
  <xsd:schema xmlns:xsd="http://www.w3.org/2001/XMLSchema" xmlns:xs="http://www.w3.org/2001/XMLSchema" xmlns:p="http://schemas.microsoft.com/office/2006/metadata/properties" xmlns:ns2="f632baae-d976-4f23-8cd9-f246407faabe" xmlns:ns3="3d0fd009-4352-4d38-9ebc-1204f711e843" targetNamespace="http://schemas.microsoft.com/office/2006/metadata/properties" ma:root="true" ma:fieldsID="53dac4d1fc2ba6e95c8a7fcbc1c04b1c" ns2:_="" ns3:_="">
    <xsd:import namespace="f632baae-d976-4f23-8cd9-f246407faabe"/>
    <xsd:import namespace="3d0fd009-4352-4d38-9ebc-1204f711e843"/>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2baae-d976-4f23-8cd9-f246407faabe"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f3f93263-5f87-41ef-a5f8-45fb28a229f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d0fd009-4352-4d38-9ebc-1204f711e843"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ff2b83c7-9e0b-49fb-962c-fb7820525b9e}" ma:internalName="TaxCatchAll" ma:showField="CatchAllData" ma:web="3d0fd009-4352-4d38-9ebc-1204f711e84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700F84-F95D-435D-8530-C883AF0BEC66}">
  <ds:schemaRefs>
    <ds:schemaRef ds:uri="http://purl.org/dc/terms/"/>
    <ds:schemaRef ds:uri="http://schemas.microsoft.com/office/infopath/2007/PartnerControls"/>
    <ds:schemaRef ds:uri="http://purl.org/dc/dcmitype/"/>
    <ds:schemaRef ds:uri="http://schemas.microsoft.com/office/2006/documentManagement/types"/>
    <ds:schemaRef ds:uri="http://schemas.microsoft.com/office/2006/metadata/properties"/>
    <ds:schemaRef ds:uri="7907ac5e-bc65-4637-a2a3-28193c353894"/>
    <ds:schemaRef ds:uri="http://purl.org/dc/elements/1.1/"/>
    <ds:schemaRef ds:uri="http://schemas.microsoft.com/sharepoint/v3"/>
    <ds:schemaRef ds:uri="http://schemas.openxmlformats.org/package/2006/metadata/core-properties"/>
    <ds:schemaRef ds:uri="435526b8-36f9-4f39-a541-6684a8ec014e"/>
    <ds:schemaRef ds:uri="http://www.w3.org/XML/1998/namespace"/>
  </ds:schemaRefs>
</ds:datastoreItem>
</file>

<file path=customXml/itemProps2.xml><?xml version="1.0" encoding="utf-8"?>
<ds:datastoreItem xmlns:ds="http://schemas.openxmlformats.org/officeDocument/2006/customXml" ds:itemID="{CCD21248-6B9B-4B8C-A3FA-339D2CD6E88A}"/>
</file>

<file path=customXml/itemProps3.xml><?xml version="1.0" encoding="utf-8"?>
<ds:datastoreItem xmlns:ds="http://schemas.openxmlformats.org/officeDocument/2006/customXml" ds:itemID="{A14645E1-B616-4015-ADB5-A4EBE0A1D1E5}">
  <ds:schemaRefs>
    <ds:schemaRef ds:uri="http://schemas.microsoft.com/sharepoint/v3/contenttype/forms"/>
  </ds:schemaRefs>
</ds:datastoreItem>
</file>

<file path=docMetadata/LabelInfo.xml><?xml version="1.0" encoding="utf-8"?>
<clbl:labelList xmlns:clbl="http://schemas.microsoft.com/office/2020/mipLabelMetadata">
  <clbl:label id="{b4f49566-f18d-44d1-9442-111a59d839fa}" enabled="1" method="Privileged" siteId="{a01f407a-85cb-4a16-98bb-f28e6384bd28}" contentBits="0" removed="0"/>
</clbl:labelList>
</file>

<file path=docProps/app.xml><?xml version="1.0" encoding="utf-8"?>
<Properties xmlns="http://schemas.openxmlformats.org/officeDocument/2006/extended-properties" xmlns:vt="http://schemas.openxmlformats.org/officeDocument/2006/docPropsVTypes">
  <TotalTime>4146</TotalTime>
  <Words>474</Words>
  <Application>Microsoft Office PowerPoint</Application>
  <PresentationFormat>Widescreen</PresentationFormat>
  <Paragraphs>49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Tenembaum, Chloe</dc:creator>
  <cp:lastModifiedBy>Tenembaum, Chloe</cp:lastModifiedBy>
  <cp:revision>5</cp:revision>
  <dcterms:created xsi:type="dcterms:W3CDTF">2024-05-20T15:41:35Z</dcterms:created>
  <dcterms:modified xsi:type="dcterms:W3CDTF">2025-02-13T19:04:54Z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0x0101001717F7C3824B0B46A5C5887738C8780D</vt:lpwstr>
  </property>
</Properties>
</file>